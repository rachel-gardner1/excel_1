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Nunito SemiBold"/>
      <p:regular r:id="rId26"/>
      <p:bold r:id="rId27"/>
      <p:italic r:id="rId28"/>
      <p:boldItalic r:id="rId29"/>
    </p:embeddedFont>
    <p:embeddedFont>
      <p:font typeface="Nunito"/>
      <p:regular r:id="rId30"/>
      <p:bold r:id="rId31"/>
      <p:italic r:id="rId32"/>
      <p:boldItalic r:id="rId33"/>
    </p:embeddedFont>
    <p:embeddedFont>
      <p:font typeface="Maven Pro"/>
      <p:regular r:id="rId34"/>
      <p:bold r:id="rId35"/>
    </p:embeddedFont>
    <p:embeddedFont>
      <p:font typeface="Maven Pro Medium"/>
      <p:regular r:id="rId36"/>
      <p:bold r:id="rId37"/>
    </p:embeddedFont>
    <p:embeddedFont>
      <p:font typeface="Nunito Medium"/>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NunitoMedium-italic.fntdata"/><Relationship Id="rId20" Type="http://schemas.openxmlformats.org/officeDocument/2006/relationships/slide" Target="slides/slide15.xml"/><Relationship Id="rId41" Type="http://schemas.openxmlformats.org/officeDocument/2006/relationships/font" Target="fonts/NunitoMedium-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SemiBold-regular.fntdata"/><Relationship Id="rId25" Type="http://schemas.openxmlformats.org/officeDocument/2006/relationships/slide" Target="slides/slide20.xml"/><Relationship Id="rId28" Type="http://schemas.openxmlformats.org/officeDocument/2006/relationships/font" Target="fonts/NunitoSemiBold-italic.fntdata"/><Relationship Id="rId27" Type="http://schemas.openxmlformats.org/officeDocument/2006/relationships/font" Target="fonts/NunitoSemiBold-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SemiBold-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unito-bold.fntdata"/><Relationship Id="rId30" Type="http://schemas.openxmlformats.org/officeDocument/2006/relationships/font" Target="fonts/Nunito-regular.fntdata"/><Relationship Id="rId11" Type="http://schemas.openxmlformats.org/officeDocument/2006/relationships/slide" Target="slides/slide6.xml"/><Relationship Id="rId33" Type="http://schemas.openxmlformats.org/officeDocument/2006/relationships/font" Target="fonts/Nunito-boldItalic.fntdata"/><Relationship Id="rId10" Type="http://schemas.openxmlformats.org/officeDocument/2006/relationships/slide" Target="slides/slide5.xml"/><Relationship Id="rId32" Type="http://schemas.openxmlformats.org/officeDocument/2006/relationships/font" Target="fonts/Nunito-italic.fntdata"/><Relationship Id="rId13" Type="http://schemas.openxmlformats.org/officeDocument/2006/relationships/slide" Target="slides/slide8.xml"/><Relationship Id="rId35" Type="http://schemas.openxmlformats.org/officeDocument/2006/relationships/font" Target="fonts/MavenPro-bold.fntdata"/><Relationship Id="rId12" Type="http://schemas.openxmlformats.org/officeDocument/2006/relationships/slide" Target="slides/slide7.xml"/><Relationship Id="rId34" Type="http://schemas.openxmlformats.org/officeDocument/2006/relationships/font" Target="fonts/MavenPro-regular.fntdata"/><Relationship Id="rId15" Type="http://schemas.openxmlformats.org/officeDocument/2006/relationships/slide" Target="slides/slide10.xml"/><Relationship Id="rId37" Type="http://schemas.openxmlformats.org/officeDocument/2006/relationships/font" Target="fonts/MavenProMedium-bold.fntdata"/><Relationship Id="rId14" Type="http://schemas.openxmlformats.org/officeDocument/2006/relationships/slide" Target="slides/slide9.xml"/><Relationship Id="rId36" Type="http://schemas.openxmlformats.org/officeDocument/2006/relationships/font" Target="fonts/MavenProMedium-regular.fntdata"/><Relationship Id="rId17" Type="http://schemas.openxmlformats.org/officeDocument/2006/relationships/slide" Target="slides/slide12.xml"/><Relationship Id="rId39" Type="http://schemas.openxmlformats.org/officeDocument/2006/relationships/font" Target="fonts/NunitoMedium-bold.fntdata"/><Relationship Id="rId16" Type="http://schemas.openxmlformats.org/officeDocument/2006/relationships/slide" Target="slides/slide11.xml"/><Relationship Id="rId38" Type="http://schemas.openxmlformats.org/officeDocument/2006/relationships/font" Target="fonts/NunitoMedium-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2f0169f8e3853b45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2f0169f8e3853b45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h2f0169f8e3853b45_0_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h2f0169f8e3853b45_0_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h2f0169f8e3853b45_0_6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h2f0169f8e3853b45_0_6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 / 2</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2f0169f8e3853b45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h2f0169f8e3853b45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2 / 2</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h2f0169f8e3853b45_0_6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h2f0169f8e3853b45_0_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 / 2</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h2f0169f8e3853b45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h2f0169f8e3853b45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2 / 2</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h2f0169f8e3853b45_0_6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h2f0169f8e3853b45_0_6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 / 3</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h2f0169f8e3853b45_0_7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h2f0169f8e3853b45_0_7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2 / 3</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h2f0169f8e3853b45_0_6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h2f0169f8e3853b45_0_6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3 / 3</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2f0169f8e3853b45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h2f0169f8e3853b45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1 / 5</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h2f0169f8e3853b45_0_7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h2f0169f8e3853b45_0_7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2 / 5</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2f0169f8e3853b45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h2f0169f8e3853b45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3 / 5</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2f0169f8e3853b45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h2f0169f8e3853b45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4 / 5</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2f0169f8e3853b45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h2f0169f8e3853b45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2 / 4</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h6b53f953ecc8ee9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h6b53f953ecc8ee9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3 / 4</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h2f0169f8e3853b45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h2f0169f8e3853b45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6b53f953ecc8ee9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h6b53f953ecc8ee9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h6b53f953ecc8ee9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h6b53f953ecc8ee9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6b53f953ecc8ee92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h6b53f953ecc8ee9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5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7.png"/><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9.jpg"/><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6.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21.png"/><Relationship Id="rId6"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14.png"/><Relationship Id="rId5" Type="http://schemas.openxmlformats.org/officeDocument/2006/relationships/image" Target="../media/image22.png"/><Relationship Id="rId6" Type="http://schemas.openxmlformats.org/officeDocument/2006/relationships/image" Target="../media/image29.png"/><Relationship Id="rId7"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8.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5.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Excel Projects</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pc="7">
                <a:latin typeface="Maven Pro Medium"/>
                <a:ea typeface="Maven Pro Medium"/>
                <a:cs typeface="Maven Pro Medium"/>
                <a:sym typeface="Maven Pro Medium"/>
              </a:rPr>
              <a:t>By Rachel Gardner</a:t>
            </a:r>
            <a:r>
              <a:rPr lang="en-GB">
                <a:latin typeface="Maven Pro Medium"/>
                <a:ea typeface="Maven Pro Medium"/>
                <a:cs typeface="Maven Pro Medium"/>
                <a:sym typeface="Maven Pro Medium"/>
              </a:rPr>
              <a:t>​</a:t>
            </a:r>
            <a:endParaRPr>
              <a:latin typeface="Maven Pro Medium"/>
              <a:ea typeface="Maven Pro Medium"/>
              <a:cs typeface="Maven Pro Medium"/>
              <a:sym typeface="Maven Pr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14450" y="374950"/>
            <a:ext cx="7030500" cy="80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pc="-33" sz="3000">
                <a:solidFill>
                  <a:srgbClr val="000000"/>
                </a:solidFill>
                <a:latin typeface="Maven Pro Medium"/>
                <a:ea typeface="Maven Pro Medium"/>
                <a:cs typeface="Maven Pro Medium"/>
                <a:sym typeface="Maven Pro Medium"/>
              </a:rPr>
              <a:t>Sample Data Sources</a:t>
            </a:r>
            <a:r>
              <a:rPr b="0" lang="en-GB" sz="3000">
                <a:solidFill>
                  <a:srgbClr val="000000"/>
                </a:solidFill>
                <a:latin typeface="Maven Pro Medium"/>
                <a:ea typeface="Maven Pro Medium"/>
                <a:cs typeface="Maven Pro Medium"/>
                <a:sym typeface="Maven Pro Medium"/>
              </a:rPr>
              <a:t>​</a:t>
            </a:r>
            <a:endParaRPr b="0" sz="3000">
              <a:solidFill>
                <a:srgbClr val="000000"/>
              </a:solidFill>
              <a:latin typeface="Maven Pro Medium"/>
              <a:ea typeface="Maven Pro Medium"/>
              <a:cs typeface="Maven Pro Medium"/>
              <a:sym typeface="Maven Pro Medium"/>
            </a:endParaRPr>
          </a:p>
        </p:txBody>
      </p:sp>
      <p:sp>
        <p:nvSpPr>
          <p:cNvPr id="284" name="Google Shape;284;p14"/>
          <p:cNvSpPr txBox="1"/>
          <p:nvPr>
            <p:ph idx="1" type="body"/>
          </p:nvPr>
        </p:nvSpPr>
        <p:spPr>
          <a:xfrm>
            <a:off x="418400" y="1401075"/>
            <a:ext cx="3256500" cy="3130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600">
                <a:solidFill>
                  <a:srgbClr val="000000"/>
                </a:solidFill>
                <a:latin typeface="Nunito Medium"/>
                <a:ea typeface="Nunito Medium"/>
                <a:cs typeface="Nunito Medium"/>
                <a:sym typeface="Nunito Medium"/>
              </a:rPr>
              <a:t>I find my sample data from ExcelDemy (as seen on the right), which is useful in giving me enough projects to attempt different formulas and lean into asking the right business questions​</a:t>
            </a:r>
            <a:endParaRPr sz="1600">
              <a:solidFill>
                <a:srgbClr val="000000"/>
              </a:solidFill>
              <a:latin typeface="Nunito Medium"/>
              <a:ea typeface="Nunito Medium"/>
              <a:cs typeface="Nunito Medium"/>
              <a:sym typeface="Nunito Medium"/>
            </a:endParaRPr>
          </a:p>
        </p:txBody>
      </p:sp>
      <p:pic>
        <p:nvPicPr>
          <p:cNvPr id="285" name="Google Shape;285;p14" title="Screenshot 2026-09-26 180305.png"/>
          <p:cNvPicPr preferRelativeResize="0"/>
          <p:nvPr/>
        </p:nvPicPr>
        <p:blipFill>
          <a:blip r:embed="rId3">
            <a:alphaModFix/>
          </a:blip>
          <a:stretch>
            <a:fillRect/>
          </a:stretch>
        </p:blipFill>
        <p:spPr>
          <a:xfrm>
            <a:off x="3674900" y="1401075"/>
            <a:ext cx="5336450" cy="22895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2684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GB" spc="-33" sz="3000">
                <a:solidFill>
                  <a:srgbClr val="000000"/>
                </a:solidFill>
                <a:latin typeface="Maven Pro Medium"/>
                <a:ea typeface="Maven Pro Medium"/>
                <a:cs typeface="Maven Pro Medium"/>
                <a:sym typeface="Maven Pro Medium"/>
              </a:rPr>
              <a:t>Inventory Records Sample Data Preview</a:t>
            </a:r>
            <a:r>
              <a:rPr b="0" lang="en-GB" sz="3000">
                <a:solidFill>
                  <a:srgbClr val="000000"/>
                </a:solidFill>
                <a:latin typeface="Maven Pro Medium"/>
                <a:ea typeface="Maven Pro Medium"/>
                <a:cs typeface="Maven Pro Medium"/>
                <a:sym typeface="Maven Pro Medium"/>
              </a:rPr>
              <a:t>​ </a:t>
            </a:r>
            <a:endParaRPr b="0" sz="3000">
              <a:solidFill>
                <a:srgbClr val="000000"/>
              </a:solidFill>
              <a:latin typeface="Maven Pro Medium"/>
              <a:ea typeface="Maven Pro Medium"/>
              <a:cs typeface="Maven Pro Medium"/>
              <a:sym typeface="Maven Pro Medium"/>
            </a:endParaRPr>
          </a:p>
        </p:txBody>
      </p:sp>
      <p:pic>
        <p:nvPicPr>
          <p:cNvPr id="291" name="Google Shape;291;p15" title="Screenshot 2026-09-26 171832.png"/>
          <p:cNvPicPr preferRelativeResize="0"/>
          <p:nvPr/>
        </p:nvPicPr>
        <p:blipFill>
          <a:blip r:embed="rId3">
            <a:alphaModFix/>
          </a:blip>
          <a:stretch>
            <a:fillRect/>
          </a:stretch>
        </p:blipFill>
        <p:spPr>
          <a:xfrm>
            <a:off x="152400" y="1420175"/>
            <a:ext cx="4559875" cy="2866801"/>
          </a:xfrm>
          <a:prstGeom prst="rect">
            <a:avLst/>
          </a:prstGeom>
          <a:noFill/>
          <a:ln>
            <a:noFill/>
          </a:ln>
        </p:spPr>
      </p:pic>
      <p:pic>
        <p:nvPicPr>
          <p:cNvPr id="292" name="Google Shape;292;p15" title="Screenshot 2026-09-26 171903.png"/>
          <p:cNvPicPr preferRelativeResize="0"/>
          <p:nvPr/>
        </p:nvPicPr>
        <p:blipFill>
          <a:blip r:embed="rId4">
            <a:alphaModFix/>
          </a:blip>
          <a:stretch>
            <a:fillRect/>
          </a:stretch>
        </p:blipFill>
        <p:spPr>
          <a:xfrm>
            <a:off x="4816475" y="1100700"/>
            <a:ext cx="3951525" cy="38808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357900"/>
            <a:ext cx="7030500" cy="972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pc="-33" sz="3000">
                <a:solidFill>
                  <a:srgbClr val="000000"/>
                </a:solidFill>
                <a:latin typeface="Maven Pro Medium"/>
                <a:ea typeface="Maven Pro Medium"/>
                <a:cs typeface="Maven Pro Medium"/>
                <a:sym typeface="Maven Pro Medium"/>
              </a:rPr>
              <a:t>Initial Work on the Data</a:t>
            </a:r>
            <a:r>
              <a:rPr b="0" lang="en-GB" sz="3000">
                <a:solidFill>
                  <a:srgbClr val="000000"/>
                </a:solidFill>
                <a:latin typeface="Maven Pro Medium"/>
                <a:ea typeface="Maven Pro Medium"/>
                <a:cs typeface="Maven Pro Medium"/>
                <a:sym typeface="Maven Pro Medium"/>
              </a:rPr>
              <a:t>​ – Adding Columns</a:t>
            </a:r>
            <a:endParaRPr b="0" sz="3000">
              <a:solidFill>
                <a:srgbClr val="000000"/>
              </a:solidFill>
              <a:latin typeface="Maven Pro Medium"/>
              <a:ea typeface="Maven Pro Medium"/>
              <a:cs typeface="Maven Pro Medium"/>
              <a:sym typeface="Maven Pro Medium"/>
            </a:endParaRPr>
          </a:p>
        </p:txBody>
      </p:sp>
      <p:pic>
        <p:nvPicPr>
          <p:cNvPr id="298" name="Google Shape;298;p16"/>
          <p:cNvPicPr preferRelativeResize="0"/>
          <p:nvPr/>
        </p:nvPicPr>
        <p:blipFill>
          <a:blip r:embed="rId3">
            <a:alphaModFix/>
          </a:blip>
          <a:stretch>
            <a:fillRect/>
          </a:stretch>
        </p:blipFill>
        <p:spPr>
          <a:xfrm>
            <a:off x="571250" y="2226150"/>
            <a:ext cx="8001475" cy="2775500"/>
          </a:xfrm>
          <a:prstGeom prst="rect">
            <a:avLst/>
          </a:prstGeom>
          <a:noFill/>
          <a:ln>
            <a:noFill/>
          </a:ln>
        </p:spPr>
      </p:pic>
      <p:sp>
        <p:nvSpPr>
          <p:cNvPr id="299" name="Google Shape;299;p16"/>
          <p:cNvSpPr txBox="1"/>
          <p:nvPr/>
        </p:nvSpPr>
        <p:spPr>
          <a:xfrm>
            <a:off x="311900" y="1359150"/>
            <a:ext cx="3578100" cy="867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a:latin typeface="Nunito Medium"/>
                <a:ea typeface="Nunito Medium"/>
                <a:cs typeface="Nunito Medium"/>
                <a:sym typeface="Nunito Medium"/>
              </a:rPr>
              <a:t>Checking Hand-In-Stock numbers to both Units Sold and On-Hand​</a:t>
            </a:r>
            <a:endParaRPr>
              <a:latin typeface="Nunito Medium"/>
              <a:ea typeface="Nunito Medium"/>
              <a:cs typeface="Nunito Medium"/>
              <a:sym typeface="Nunito Medium"/>
            </a:endParaRPr>
          </a:p>
          <a:p>
            <a:pPr indent="0" lvl="0" marL="0" rtl="0" algn="l">
              <a:lnSpc>
                <a:spcPct val="100000"/>
              </a:lnSpc>
              <a:spcBef>
                <a:spcPts val="0"/>
              </a:spcBef>
              <a:spcAft>
                <a:spcPts val="0"/>
              </a:spcAft>
              <a:buNone/>
            </a:pPr>
            <a:r>
              <a:rPr lang="en-GB" sz="1200">
                <a:latin typeface="Nunito Medium"/>
                <a:ea typeface="Nunito Medium"/>
                <a:cs typeface="Nunito Medium"/>
                <a:sym typeface="Nunito Medium"/>
              </a:rPr>
              <a:t>(minor misspelling of hand-in-stock depletion)​</a:t>
            </a:r>
            <a:endParaRPr sz="1300">
              <a:solidFill>
                <a:schemeClr val="dk2"/>
              </a:solidFill>
              <a:latin typeface="Nunito"/>
              <a:ea typeface="Nunito"/>
              <a:cs typeface="Nunito"/>
              <a:sym typeface="Nunito"/>
            </a:endParaRPr>
          </a:p>
        </p:txBody>
      </p:sp>
      <p:sp>
        <p:nvSpPr>
          <p:cNvPr id="300" name="Google Shape;300;p16"/>
          <p:cNvSpPr txBox="1"/>
          <p:nvPr/>
        </p:nvSpPr>
        <p:spPr>
          <a:xfrm>
            <a:off x="4325000" y="1330188"/>
            <a:ext cx="2282100" cy="6156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GB">
                <a:latin typeface="Nunito Medium"/>
                <a:ea typeface="Nunito Medium"/>
                <a:cs typeface="Nunito Medium"/>
                <a:sym typeface="Nunito Medium"/>
              </a:rPr>
              <a:t>Verifying which Products</a:t>
            </a:r>
            <a:endParaRPr>
              <a:latin typeface="Nunito Medium"/>
              <a:ea typeface="Nunito Medium"/>
              <a:cs typeface="Nunito Medium"/>
              <a:sym typeface="Nunito Medium"/>
            </a:endParaRPr>
          </a:p>
          <a:p>
            <a:pPr indent="0" lvl="0" marL="0" rtl="0" algn="l">
              <a:lnSpc>
                <a:spcPct val="100000"/>
              </a:lnSpc>
              <a:spcBef>
                <a:spcPts val="0"/>
              </a:spcBef>
              <a:spcAft>
                <a:spcPts val="0"/>
              </a:spcAft>
              <a:buNone/>
            </a:pPr>
            <a:r>
              <a:rPr lang="en-GB">
                <a:latin typeface="Nunito Medium"/>
                <a:ea typeface="Nunito Medium"/>
                <a:cs typeface="Nunito Medium"/>
                <a:sym typeface="Nunito Medium"/>
              </a:rPr>
              <a:t>have missing inventory​</a:t>
            </a:r>
            <a:endParaRPr>
              <a:latin typeface="Nunito Medium"/>
              <a:ea typeface="Nunito Medium"/>
              <a:cs typeface="Nunito Medium"/>
              <a:sym typeface="Nunito Medium"/>
            </a:endParaRPr>
          </a:p>
        </p:txBody>
      </p:sp>
      <p:sp>
        <p:nvSpPr>
          <p:cNvPr id="301" name="Google Shape;301;p16"/>
          <p:cNvSpPr txBox="1"/>
          <p:nvPr/>
        </p:nvSpPr>
        <p:spPr>
          <a:xfrm>
            <a:off x="7042100" y="1330200"/>
            <a:ext cx="1871400" cy="400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GB">
                <a:latin typeface="Nunito Medium"/>
                <a:ea typeface="Nunito Medium"/>
                <a:cs typeface="Nunito Medium"/>
                <a:sym typeface="Nunito Medium"/>
              </a:rPr>
              <a:t>Calculating revenue​</a:t>
            </a:r>
            <a:endParaRPr>
              <a:latin typeface="Nunito Medium"/>
              <a:ea typeface="Nunito Medium"/>
              <a:cs typeface="Nunito Medium"/>
              <a:sym typeface="Nunito Medium"/>
            </a:endParaRPr>
          </a:p>
        </p:txBody>
      </p:sp>
      <p:cxnSp>
        <p:nvCxnSpPr>
          <p:cNvPr id="302" name="Google Shape;302;p16"/>
          <p:cNvCxnSpPr>
            <a:stCxn id="299" idx="3"/>
          </p:cNvCxnSpPr>
          <p:nvPr/>
        </p:nvCxnSpPr>
        <p:spPr>
          <a:xfrm>
            <a:off x="3890000" y="1792650"/>
            <a:ext cx="1256700" cy="705000"/>
          </a:xfrm>
          <a:prstGeom prst="straightConnector1">
            <a:avLst/>
          </a:prstGeom>
          <a:noFill/>
          <a:ln cap="flat" cmpd="sng" w="28575">
            <a:solidFill>
              <a:srgbClr val="BFBFBF"/>
            </a:solidFill>
            <a:prstDash val="solid"/>
            <a:round/>
            <a:headEnd len="med" w="med" type="none"/>
            <a:tailEnd len="med" w="med" type="stealth"/>
          </a:ln>
        </p:spPr>
      </p:cxnSp>
      <p:cxnSp>
        <p:nvCxnSpPr>
          <p:cNvPr id="303" name="Google Shape;303;p16"/>
          <p:cNvCxnSpPr>
            <a:stCxn id="300" idx="2"/>
          </p:cNvCxnSpPr>
          <p:nvPr/>
        </p:nvCxnSpPr>
        <p:spPr>
          <a:xfrm>
            <a:off x="5466050" y="1945788"/>
            <a:ext cx="830700" cy="466500"/>
          </a:xfrm>
          <a:prstGeom prst="straightConnector1">
            <a:avLst/>
          </a:prstGeom>
          <a:noFill/>
          <a:ln cap="flat" cmpd="sng" w="28575">
            <a:solidFill>
              <a:srgbClr val="BFBFBF"/>
            </a:solidFill>
            <a:prstDash val="solid"/>
            <a:round/>
            <a:headEnd len="med" w="med" type="none"/>
            <a:tailEnd len="med" w="med" type="stealth"/>
          </a:ln>
        </p:spPr>
      </p:cxnSp>
      <p:cxnSp>
        <p:nvCxnSpPr>
          <p:cNvPr id="304" name="Google Shape;304;p16"/>
          <p:cNvCxnSpPr>
            <a:stCxn id="301" idx="2"/>
          </p:cNvCxnSpPr>
          <p:nvPr/>
        </p:nvCxnSpPr>
        <p:spPr>
          <a:xfrm>
            <a:off x="7977800" y="1730400"/>
            <a:ext cx="150600" cy="1015500"/>
          </a:xfrm>
          <a:prstGeom prst="straightConnector1">
            <a:avLst/>
          </a:prstGeom>
          <a:noFill/>
          <a:ln cap="flat" cmpd="sng" w="28575">
            <a:solidFill>
              <a:srgbClr val="BFBFBF"/>
            </a:solidFill>
            <a:prstDash val="solid"/>
            <a:round/>
            <a:headEnd len="med" w="med" type="none"/>
            <a:tailEnd len="med" w="med" type="stealth"/>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7"/>
          <p:cNvSpPr txBox="1"/>
          <p:nvPr>
            <p:ph type="title"/>
          </p:nvPr>
        </p:nvSpPr>
        <p:spPr>
          <a:xfrm>
            <a:off x="1207950" y="358275"/>
            <a:ext cx="7030500" cy="108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pc="-33" sz="3000">
                <a:solidFill>
                  <a:srgbClr val="000000"/>
                </a:solidFill>
                <a:latin typeface="Maven Pro Medium"/>
                <a:ea typeface="Maven Pro Medium"/>
                <a:cs typeface="Maven Pro Medium"/>
                <a:sym typeface="Maven Pro Medium"/>
              </a:rPr>
              <a:t>Initial Work on the Data</a:t>
            </a:r>
            <a:r>
              <a:rPr b="0" lang="en-GB" sz="3000">
                <a:solidFill>
                  <a:srgbClr val="000000"/>
                </a:solidFill>
                <a:latin typeface="Maven Pro Medium"/>
                <a:ea typeface="Maven Pro Medium"/>
                <a:cs typeface="Maven Pro Medium"/>
                <a:sym typeface="Maven Pro Medium"/>
              </a:rPr>
              <a:t>​ – Correcting Number Format</a:t>
            </a:r>
            <a:endParaRPr b="0" sz="3000">
              <a:solidFill>
                <a:srgbClr val="000000"/>
              </a:solidFill>
              <a:latin typeface="Maven Pro Medium"/>
              <a:ea typeface="Maven Pro Medium"/>
              <a:cs typeface="Maven Pro Medium"/>
              <a:sym typeface="Maven Pro Medium"/>
            </a:endParaRPr>
          </a:p>
        </p:txBody>
      </p:sp>
      <p:pic>
        <p:nvPicPr>
          <p:cNvPr id="310" name="Google Shape;310;p17" title="Screenshot 2026-09-26 173920.png"/>
          <p:cNvPicPr preferRelativeResize="0"/>
          <p:nvPr/>
        </p:nvPicPr>
        <p:blipFill>
          <a:blip r:embed="rId3">
            <a:alphaModFix/>
          </a:blip>
          <a:stretch>
            <a:fillRect/>
          </a:stretch>
        </p:blipFill>
        <p:spPr>
          <a:xfrm>
            <a:off x="1303800" y="2667275"/>
            <a:ext cx="2947000" cy="1982950"/>
          </a:xfrm>
          <a:prstGeom prst="rect">
            <a:avLst/>
          </a:prstGeom>
          <a:noFill/>
          <a:ln>
            <a:noFill/>
          </a:ln>
        </p:spPr>
      </p:pic>
      <p:pic>
        <p:nvPicPr>
          <p:cNvPr id="311" name="Google Shape;311;p17"/>
          <p:cNvPicPr preferRelativeResize="0"/>
          <p:nvPr/>
        </p:nvPicPr>
        <p:blipFill rotWithShape="1">
          <a:blip r:embed="rId4">
            <a:alphaModFix/>
          </a:blip>
          <a:srcRect b="0" l="75592" r="0" t="0"/>
          <a:stretch/>
        </p:blipFill>
        <p:spPr>
          <a:xfrm>
            <a:off x="6029850" y="1375300"/>
            <a:ext cx="2304451" cy="3274925"/>
          </a:xfrm>
          <a:prstGeom prst="rect">
            <a:avLst/>
          </a:prstGeom>
          <a:noFill/>
          <a:ln>
            <a:noFill/>
          </a:ln>
        </p:spPr>
      </p:pic>
      <p:sp>
        <p:nvSpPr>
          <p:cNvPr id="312" name="Google Shape;312;p17"/>
          <p:cNvSpPr txBox="1"/>
          <p:nvPr/>
        </p:nvSpPr>
        <p:spPr>
          <a:xfrm>
            <a:off x="1419400" y="1443675"/>
            <a:ext cx="4227600" cy="10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latin typeface="Nunito Medium"/>
                <a:ea typeface="Nunito Medium"/>
                <a:cs typeface="Nunito Medium"/>
                <a:sym typeface="Nunito Medium"/>
              </a:rPr>
              <a:t>A simple process of switching the number format of columns K-M from General to Accounting, currency to $USD, and decrease the decimal point so the values can be understood more easily.</a:t>
            </a:r>
            <a:endParaRPr>
              <a:latin typeface="Nunito Medium"/>
              <a:ea typeface="Nunito Medium"/>
              <a:cs typeface="Nunito Medium"/>
              <a:sym typeface="Nunito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8"/>
          <p:cNvSpPr txBox="1"/>
          <p:nvPr>
            <p:ph type="title"/>
          </p:nvPr>
        </p:nvSpPr>
        <p:spPr>
          <a:xfrm>
            <a:off x="1346400" y="598575"/>
            <a:ext cx="3268200" cy="70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0" lang="en-GB" sz="3040">
                <a:solidFill>
                  <a:srgbClr val="000000"/>
                </a:solidFill>
                <a:latin typeface="Maven Pro Medium"/>
                <a:ea typeface="Maven Pro Medium"/>
                <a:cs typeface="Maven Pro Medium"/>
                <a:sym typeface="Maven Pro Medium"/>
              </a:rPr>
              <a:t>Formulas Used</a:t>
            </a:r>
            <a:endParaRPr b="0" sz="3040">
              <a:solidFill>
                <a:srgbClr val="000000"/>
              </a:solidFill>
              <a:latin typeface="Maven Pro Medium"/>
              <a:ea typeface="Maven Pro Medium"/>
              <a:cs typeface="Maven Pro Medium"/>
              <a:sym typeface="Maven Pro Medium"/>
            </a:endParaRPr>
          </a:p>
        </p:txBody>
      </p:sp>
      <p:sp>
        <p:nvSpPr>
          <p:cNvPr id="318" name="Google Shape;318;p18"/>
          <p:cNvSpPr txBox="1"/>
          <p:nvPr>
            <p:ph idx="1" type="body"/>
          </p:nvPr>
        </p:nvSpPr>
        <p:spPr>
          <a:xfrm>
            <a:off x="4572000" y="433425"/>
            <a:ext cx="3549900" cy="1037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GB" sz="1400">
                <a:solidFill>
                  <a:srgbClr val="000000"/>
                </a:solidFill>
                <a:latin typeface="Nunito Medium"/>
                <a:ea typeface="Nunito Medium"/>
                <a:cs typeface="Nunito Medium"/>
                <a:sym typeface="Nunito Medium"/>
              </a:rPr>
              <a:t>The revenue made from the unit sales suggests that this dataset, if were real, does not come from a large-brand computer store​</a:t>
            </a:r>
            <a:endParaRPr sz="1400"/>
          </a:p>
        </p:txBody>
      </p:sp>
      <p:pic>
        <p:nvPicPr>
          <p:cNvPr descr="A screenshot of a computer&#10;&#10;AI-generated content may be incorrect." id="319" name="Google Shape;319;p18"/>
          <p:cNvPicPr preferRelativeResize="0"/>
          <p:nvPr/>
        </p:nvPicPr>
        <p:blipFill>
          <a:blip r:embed="rId3">
            <a:alphaModFix/>
          </a:blip>
          <a:stretch>
            <a:fillRect/>
          </a:stretch>
        </p:blipFill>
        <p:spPr>
          <a:xfrm>
            <a:off x="1303800" y="1574075"/>
            <a:ext cx="6459300" cy="1037100"/>
          </a:xfrm>
          <a:prstGeom prst="rect">
            <a:avLst/>
          </a:prstGeom>
          <a:noFill/>
          <a:ln>
            <a:noFill/>
          </a:ln>
        </p:spPr>
      </p:pic>
      <p:pic>
        <p:nvPicPr>
          <p:cNvPr descr="A screenshot of a computer&#10;&#10;AI-generated content may be incorrect." id="320" name="Google Shape;320;p18"/>
          <p:cNvPicPr preferRelativeResize="0"/>
          <p:nvPr/>
        </p:nvPicPr>
        <p:blipFill>
          <a:blip r:embed="rId4">
            <a:alphaModFix/>
          </a:blip>
          <a:stretch>
            <a:fillRect/>
          </a:stretch>
        </p:blipFill>
        <p:spPr>
          <a:xfrm>
            <a:off x="1303800" y="2745525"/>
            <a:ext cx="6459300" cy="1037100"/>
          </a:xfrm>
          <a:prstGeom prst="rect">
            <a:avLst/>
          </a:prstGeom>
          <a:noFill/>
          <a:ln>
            <a:noFill/>
          </a:ln>
        </p:spPr>
      </p:pic>
      <p:sp>
        <p:nvSpPr>
          <p:cNvPr id="321" name="Google Shape;321;p18"/>
          <p:cNvSpPr txBox="1"/>
          <p:nvPr/>
        </p:nvSpPr>
        <p:spPr>
          <a:xfrm>
            <a:off x="920450" y="3916975"/>
            <a:ext cx="3268200" cy="8304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Font typeface="Nunito Medium"/>
              <a:buChar char="●"/>
            </a:pPr>
            <a:r>
              <a:rPr lang="en-GB">
                <a:latin typeface="Nunito Medium"/>
                <a:ea typeface="Nunito Medium"/>
                <a:cs typeface="Nunito Medium"/>
                <a:sym typeface="Nunito Medium"/>
              </a:rPr>
              <a:t>Multiplication of both units SOLD to customers and TOTAL units bought​</a:t>
            </a:r>
            <a:endParaRPr>
              <a:latin typeface="Nunito Medium"/>
              <a:ea typeface="Nunito Medium"/>
              <a:cs typeface="Nunito Medium"/>
              <a:sym typeface="Nunito Medium"/>
            </a:endParaRPr>
          </a:p>
        </p:txBody>
      </p:sp>
      <p:sp>
        <p:nvSpPr>
          <p:cNvPr id="322" name="Google Shape;322;p18"/>
          <p:cNvSpPr txBox="1"/>
          <p:nvPr/>
        </p:nvSpPr>
        <p:spPr>
          <a:xfrm>
            <a:off x="4724350" y="3863575"/>
            <a:ext cx="3549900" cy="937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Font typeface="Nunito Medium"/>
              <a:buChar char="●"/>
            </a:pPr>
            <a:r>
              <a:rPr lang="en-GB">
                <a:latin typeface="Nunito Medium"/>
                <a:ea typeface="Nunito Medium"/>
                <a:cs typeface="Nunito Medium"/>
                <a:sym typeface="Nunito Medium"/>
              </a:rPr>
              <a:t>$84,000 worth of laptops were bought and $12,000 sold, 1/7th of revenue needed to break even​</a:t>
            </a:r>
            <a:endParaRPr>
              <a:solidFill>
                <a:schemeClr val="dk2"/>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9"/>
          <p:cNvSpPr txBox="1"/>
          <p:nvPr>
            <p:ph type="title"/>
          </p:nvPr>
        </p:nvSpPr>
        <p:spPr>
          <a:xfrm>
            <a:off x="1334225" y="559425"/>
            <a:ext cx="6892200" cy="706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0" lang="en-GB" sz="3040">
                <a:solidFill>
                  <a:srgbClr val="000000"/>
                </a:solidFill>
                <a:latin typeface="Maven Pro Medium"/>
                <a:ea typeface="Maven Pro Medium"/>
                <a:cs typeface="Maven Pro Medium"/>
                <a:sym typeface="Maven Pro Medium"/>
              </a:rPr>
              <a:t>Formulas Used</a:t>
            </a:r>
            <a:endParaRPr b="0" sz="3040">
              <a:solidFill>
                <a:srgbClr val="000000"/>
              </a:solidFill>
              <a:latin typeface="Maven Pro Medium"/>
              <a:ea typeface="Maven Pro Medium"/>
              <a:cs typeface="Maven Pro Medium"/>
              <a:sym typeface="Maven Pro Medium"/>
            </a:endParaRPr>
          </a:p>
        </p:txBody>
      </p:sp>
      <p:pic>
        <p:nvPicPr>
          <p:cNvPr descr="A blue and white sign with white text" id="328" name="Google Shape;328;p19"/>
          <p:cNvPicPr preferRelativeResize="0"/>
          <p:nvPr/>
        </p:nvPicPr>
        <p:blipFill>
          <a:blip r:embed="rId3">
            <a:alphaModFix/>
          </a:blip>
          <a:stretch>
            <a:fillRect/>
          </a:stretch>
        </p:blipFill>
        <p:spPr>
          <a:xfrm>
            <a:off x="1195950" y="1404650"/>
            <a:ext cx="6752100" cy="1090175"/>
          </a:xfrm>
          <a:prstGeom prst="rect">
            <a:avLst/>
          </a:prstGeom>
          <a:noFill/>
          <a:ln>
            <a:noFill/>
          </a:ln>
        </p:spPr>
      </p:pic>
      <p:pic>
        <p:nvPicPr>
          <p:cNvPr descr="A screenshot of a computer&#10;&#10;AI-generated content may be incorrect." id="329" name="Google Shape;329;p19"/>
          <p:cNvPicPr preferRelativeResize="0"/>
          <p:nvPr/>
        </p:nvPicPr>
        <p:blipFill>
          <a:blip r:embed="rId4">
            <a:alphaModFix/>
          </a:blip>
          <a:stretch>
            <a:fillRect/>
          </a:stretch>
        </p:blipFill>
        <p:spPr>
          <a:xfrm>
            <a:off x="1195950" y="2633250"/>
            <a:ext cx="6752100" cy="1076114"/>
          </a:xfrm>
          <a:prstGeom prst="rect">
            <a:avLst/>
          </a:prstGeom>
          <a:noFill/>
          <a:ln>
            <a:noFill/>
          </a:ln>
        </p:spPr>
      </p:pic>
      <p:sp>
        <p:nvSpPr>
          <p:cNvPr id="330" name="Google Shape;330;p19"/>
          <p:cNvSpPr txBox="1"/>
          <p:nvPr/>
        </p:nvSpPr>
        <p:spPr>
          <a:xfrm>
            <a:off x="1195950" y="3709375"/>
            <a:ext cx="6752100" cy="10761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SzPts val="1400"/>
              <a:buFont typeface="Nunito Medium"/>
              <a:buChar char="●"/>
            </a:pPr>
            <a:r>
              <a:rPr lang="en-GB">
                <a:latin typeface="Nunito Medium"/>
                <a:ea typeface="Nunito Medium"/>
                <a:cs typeface="Nunito Medium"/>
                <a:sym typeface="Nunito Medium"/>
              </a:rPr>
              <a:t>If-statements used to automatically check whether or not Column H is correct after sales​</a:t>
            </a:r>
            <a:endParaRPr>
              <a:latin typeface="Nunito Medium"/>
              <a:ea typeface="Nunito Medium"/>
              <a:cs typeface="Nunito Medium"/>
              <a:sym typeface="Nunito Medium"/>
            </a:endParaRPr>
          </a:p>
          <a:p>
            <a:pPr indent="-317500" lvl="0" marL="457200" rtl="0" algn="l">
              <a:lnSpc>
                <a:spcPct val="100000"/>
              </a:lnSpc>
              <a:spcBef>
                <a:spcPts val="0"/>
              </a:spcBef>
              <a:spcAft>
                <a:spcPts val="0"/>
              </a:spcAft>
              <a:buSzPts val="1400"/>
              <a:buFont typeface="Nunito Medium"/>
              <a:buChar char="●"/>
            </a:pPr>
            <a:r>
              <a:rPr lang="en-GB">
                <a:latin typeface="Nunito Medium"/>
                <a:ea typeface="Nunito Medium"/>
                <a:cs typeface="Nunito Medium"/>
                <a:sym typeface="Nunito Medium"/>
              </a:rPr>
              <a:t>And to calculate the difference between Column H and sales subtracted from total units on hand​</a:t>
            </a:r>
            <a:endParaRPr>
              <a:latin typeface="Nunito Medium"/>
              <a:ea typeface="Nunito Medium"/>
              <a:cs typeface="Nunito Medium"/>
              <a:sym typeface="Nunito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0"/>
          <p:cNvSpPr txBox="1"/>
          <p:nvPr>
            <p:ph type="title"/>
          </p:nvPr>
        </p:nvSpPr>
        <p:spPr>
          <a:xfrm>
            <a:off x="1212700" y="705050"/>
            <a:ext cx="7474200" cy="7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z="2700">
                <a:solidFill>
                  <a:srgbClr val="000000"/>
                </a:solidFill>
                <a:latin typeface="Maven Pro Medium"/>
                <a:ea typeface="Maven Pro Medium"/>
                <a:cs typeface="Maven Pro Medium"/>
                <a:sym typeface="Maven Pro Medium"/>
              </a:rPr>
              <a:t>Missing Inventory Compared to Price Per Unit</a:t>
            </a:r>
            <a:endParaRPr b="0" sz="2700">
              <a:solidFill>
                <a:srgbClr val="000000"/>
              </a:solidFill>
              <a:latin typeface="Maven Pro Medium"/>
              <a:ea typeface="Maven Pro Medium"/>
              <a:cs typeface="Maven Pro Medium"/>
              <a:sym typeface="Maven Pro Medium"/>
            </a:endParaRPr>
          </a:p>
        </p:txBody>
      </p:sp>
      <p:pic>
        <p:nvPicPr>
          <p:cNvPr descr="A close up of a text&#10;&#10;AI-generated content may be incorrect." id="336" name="Google Shape;336;p20"/>
          <p:cNvPicPr preferRelativeResize="0"/>
          <p:nvPr/>
        </p:nvPicPr>
        <p:blipFill>
          <a:blip r:embed="rId3">
            <a:alphaModFix/>
          </a:blip>
          <a:stretch>
            <a:fillRect/>
          </a:stretch>
        </p:blipFill>
        <p:spPr>
          <a:xfrm>
            <a:off x="744492" y="1454475"/>
            <a:ext cx="7655033" cy="342875"/>
          </a:xfrm>
          <a:prstGeom prst="rect">
            <a:avLst/>
          </a:prstGeom>
          <a:noFill/>
          <a:ln>
            <a:noFill/>
          </a:ln>
        </p:spPr>
      </p:pic>
      <p:pic>
        <p:nvPicPr>
          <p:cNvPr id="337" name="Google Shape;337;p20" title="Screenshot 2026-09-26 172619.png"/>
          <p:cNvPicPr preferRelativeResize="0"/>
          <p:nvPr/>
        </p:nvPicPr>
        <p:blipFill>
          <a:blip r:embed="rId4">
            <a:alphaModFix/>
          </a:blip>
          <a:stretch>
            <a:fillRect/>
          </a:stretch>
        </p:blipFill>
        <p:spPr>
          <a:xfrm>
            <a:off x="240604" y="1797350"/>
            <a:ext cx="3433800" cy="2489626"/>
          </a:xfrm>
          <a:prstGeom prst="rect">
            <a:avLst/>
          </a:prstGeom>
          <a:noFill/>
          <a:ln>
            <a:noFill/>
          </a:ln>
        </p:spPr>
      </p:pic>
      <p:pic>
        <p:nvPicPr>
          <p:cNvPr id="338" name="Google Shape;338;p20" title="Screenshot 2026-09-26 172637.png"/>
          <p:cNvPicPr preferRelativeResize="0"/>
          <p:nvPr/>
        </p:nvPicPr>
        <p:blipFill>
          <a:blip r:embed="rId5">
            <a:alphaModFix/>
          </a:blip>
          <a:stretch>
            <a:fillRect/>
          </a:stretch>
        </p:blipFill>
        <p:spPr>
          <a:xfrm>
            <a:off x="3758175" y="1797350"/>
            <a:ext cx="2946026" cy="1339525"/>
          </a:xfrm>
          <a:prstGeom prst="rect">
            <a:avLst/>
          </a:prstGeom>
          <a:noFill/>
          <a:ln>
            <a:noFill/>
          </a:ln>
        </p:spPr>
      </p:pic>
      <p:sp>
        <p:nvSpPr>
          <p:cNvPr id="339" name="Google Shape;339;p20"/>
          <p:cNvSpPr txBox="1"/>
          <p:nvPr/>
        </p:nvSpPr>
        <p:spPr>
          <a:xfrm>
            <a:off x="6704200" y="1797325"/>
            <a:ext cx="1982700" cy="1420500"/>
          </a:xfrm>
          <a:prstGeom prst="rect">
            <a:avLst/>
          </a:prstGeom>
          <a:noFill/>
          <a:ln>
            <a:noFill/>
          </a:ln>
        </p:spPr>
        <p:txBody>
          <a:bodyPr anchorCtr="0" anchor="t" bIns="91425" lIns="91425" spcFirstLastPara="1" rIns="91425" wrap="square" tIns="91425">
            <a:noAutofit/>
          </a:bodyPr>
          <a:lstStyle/>
          <a:p>
            <a:pPr indent="-314325" lvl="0" marL="457200" rtl="0" algn="l">
              <a:spcBef>
                <a:spcPts val="0"/>
              </a:spcBef>
              <a:spcAft>
                <a:spcPts val="0"/>
              </a:spcAft>
              <a:buSzPts val="1350"/>
              <a:buFont typeface="Nunito Medium"/>
              <a:buChar char="●"/>
            </a:pPr>
            <a:r>
              <a:rPr lang="en-GB" sz="1350">
                <a:latin typeface="Nunito Medium"/>
                <a:ea typeface="Nunito Medium"/>
                <a:cs typeface="Nunito Medium"/>
                <a:sym typeface="Nunito Medium"/>
              </a:rPr>
              <a:t>Pivot table used to filter for just missing inventory and unit cost</a:t>
            </a:r>
            <a:endParaRPr sz="1350">
              <a:latin typeface="Nunito Medium"/>
              <a:ea typeface="Nunito Medium"/>
              <a:cs typeface="Nunito Medium"/>
              <a:sym typeface="Nunito Medium"/>
            </a:endParaRPr>
          </a:p>
        </p:txBody>
      </p:sp>
      <p:sp>
        <p:nvSpPr>
          <p:cNvPr id="340" name="Google Shape;340;p20"/>
          <p:cNvSpPr txBox="1"/>
          <p:nvPr/>
        </p:nvSpPr>
        <p:spPr>
          <a:xfrm>
            <a:off x="3783500" y="3445700"/>
            <a:ext cx="4903500" cy="1520400"/>
          </a:xfrm>
          <a:prstGeom prst="rect">
            <a:avLst/>
          </a:prstGeom>
          <a:noFill/>
          <a:ln>
            <a:noFill/>
          </a:ln>
        </p:spPr>
        <p:txBody>
          <a:bodyPr anchorCtr="0" anchor="t" bIns="91425" lIns="91425" spcFirstLastPara="1" rIns="91425" wrap="square" tIns="91425">
            <a:noAutofit/>
          </a:bodyPr>
          <a:lstStyle/>
          <a:p>
            <a:pPr indent="-314325" lvl="0" marL="457200" rtl="0" algn="l">
              <a:spcBef>
                <a:spcPts val="0"/>
              </a:spcBef>
              <a:spcAft>
                <a:spcPts val="0"/>
              </a:spcAft>
              <a:buSzPts val="1350"/>
              <a:buFont typeface="Nunito Medium"/>
              <a:buChar char="●"/>
            </a:pPr>
            <a:r>
              <a:rPr lang="en-GB" sz="1350">
                <a:latin typeface="Nunito Medium"/>
                <a:ea typeface="Nunito Medium"/>
                <a:cs typeface="Nunito Medium"/>
                <a:sym typeface="Nunito Medium"/>
              </a:rPr>
              <a:t>Total of 44 missing inventory/discrepancies</a:t>
            </a:r>
            <a:endParaRPr sz="1350">
              <a:latin typeface="Nunito Medium"/>
              <a:ea typeface="Nunito Medium"/>
              <a:cs typeface="Nunito Medium"/>
              <a:sym typeface="Nunito Medium"/>
            </a:endParaRPr>
          </a:p>
          <a:p>
            <a:pPr indent="-314325" lvl="0" marL="457200" rtl="0" algn="l">
              <a:spcBef>
                <a:spcPts val="0"/>
              </a:spcBef>
              <a:spcAft>
                <a:spcPts val="0"/>
              </a:spcAft>
              <a:buSzPts val="1350"/>
              <a:buFont typeface="Nunito Medium"/>
              <a:buChar char="●"/>
            </a:pPr>
            <a:r>
              <a:rPr lang="en-GB" sz="1350">
                <a:latin typeface="Nunito Medium"/>
                <a:ea typeface="Nunito Medium"/>
                <a:cs typeface="Nunito Medium"/>
                <a:sym typeface="Nunito Medium"/>
              </a:rPr>
              <a:t>With alleged $1,600 unaccounted for in the initial work</a:t>
            </a:r>
            <a:endParaRPr sz="1350">
              <a:latin typeface="Nunito Medium"/>
              <a:ea typeface="Nunito Medium"/>
              <a:cs typeface="Nunito Medium"/>
              <a:sym typeface="Nunito Medium"/>
            </a:endParaRPr>
          </a:p>
          <a:p>
            <a:pPr indent="-314325" lvl="0" marL="457200" rtl="0" algn="l">
              <a:spcBef>
                <a:spcPts val="0"/>
              </a:spcBef>
              <a:spcAft>
                <a:spcPts val="0"/>
              </a:spcAft>
              <a:buSzPts val="1350"/>
              <a:buFont typeface="Nunito Medium"/>
              <a:buChar char="●"/>
            </a:pPr>
            <a:r>
              <a:rPr lang="en-GB" sz="1350">
                <a:latin typeface="Nunito Medium"/>
                <a:ea typeface="Nunito Medium"/>
                <a:cs typeface="Nunito Medium"/>
                <a:sym typeface="Nunito Medium"/>
              </a:rPr>
              <a:t>Grand total not included as this is a focus on just the products, how many had discrepancies in the sample data, and what each individually cost</a:t>
            </a:r>
            <a:endParaRPr sz="1350">
              <a:latin typeface="Nunito Medium"/>
              <a:ea typeface="Nunito Medium"/>
              <a:cs typeface="Nunito Medium"/>
              <a:sym typeface="Nunito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1"/>
          <p:cNvSpPr txBox="1"/>
          <p:nvPr>
            <p:ph type="title"/>
          </p:nvPr>
        </p:nvSpPr>
        <p:spPr>
          <a:xfrm>
            <a:off x="1210272" y="726350"/>
            <a:ext cx="7474200" cy="70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z="2700">
                <a:solidFill>
                  <a:srgbClr val="000000"/>
                </a:solidFill>
                <a:latin typeface="Maven Pro Medium"/>
                <a:ea typeface="Maven Pro Medium"/>
                <a:cs typeface="Maven Pro Medium"/>
                <a:sym typeface="Maven Pro Medium"/>
              </a:rPr>
              <a:t>Missing Inventory Compared to Price Per Unit</a:t>
            </a:r>
            <a:endParaRPr b="0" sz="2700">
              <a:solidFill>
                <a:srgbClr val="000000"/>
              </a:solidFill>
              <a:latin typeface="Maven Pro Medium"/>
              <a:ea typeface="Maven Pro Medium"/>
              <a:cs typeface="Maven Pro Medium"/>
              <a:sym typeface="Maven Pro Medium"/>
            </a:endParaRPr>
          </a:p>
        </p:txBody>
      </p:sp>
      <p:pic>
        <p:nvPicPr>
          <p:cNvPr id="346" name="Google Shape;346;p21" title="Screenshot 2026-09-26 172650.png"/>
          <p:cNvPicPr preferRelativeResize="0"/>
          <p:nvPr/>
        </p:nvPicPr>
        <p:blipFill>
          <a:blip r:embed="rId3">
            <a:alphaModFix/>
          </a:blip>
          <a:stretch>
            <a:fillRect/>
          </a:stretch>
        </p:blipFill>
        <p:spPr>
          <a:xfrm>
            <a:off x="952787" y="1532075"/>
            <a:ext cx="7238425" cy="2491525"/>
          </a:xfrm>
          <a:prstGeom prst="rect">
            <a:avLst/>
          </a:prstGeom>
          <a:noFill/>
          <a:ln>
            <a:noFill/>
          </a:ln>
        </p:spPr>
      </p:pic>
      <p:sp>
        <p:nvSpPr>
          <p:cNvPr id="347" name="Google Shape;347;p21"/>
          <p:cNvSpPr txBox="1"/>
          <p:nvPr/>
        </p:nvSpPr>
        <p:spPr>
          <a:xfrm>
            <a:off x="416400" y="4023600"/>
            <a:ext cx="8311200" cy="998100"/>
          </a:xfrm>
          <a:prstGeom prst="rect">
            <a:avLst/>
          </a:prstGeom>
          <a:noFill/>
          <a:ln>
            <a:noFill/>
          </a:ln>
        </p:spPr>
        <p:txBody>
          <a:bodyPr anchorCtr="0" anchor="t" bIns="91425" lIns="91425" spcFirstLastPara="1" rIns="91425" wrap="square" tIns="91425">
            <a:noAutofit/>
          </a:bodyPr>
          <a:lstStyle/>
          <a:p>
            <a:pPr indent="-314325" lvl="0" marL="457200" rtl="0" algn="l">
              <a:spcBef>
                <a:spcPts val="0"/>
              </a:spcBef>
              <a:spcAft>
                <a:spcPts val="0"/>
              </a:spcAft>
              <a:buSzPts val="1350"/>
              <a:buFont typeface="Nunito Medium"/>
              <a:buChar char="●"/>
            </a:pPr>
            <a:r>
              <a:rPr lang="en-GB" sz="1350">
                <a:latin typeface="Nunito Medium"/>
                <a:ea typeface="Nunito Medium"/>
                <a:cs typeface="Nunito Medium"/>
                <a:sym typeface="Nunito Medium"/>
              </a:rPr>
              <a:t>Clustered bar chart to visualise the data, logarithmically scaled</a:t>
            </a:r>
            <a:endParaRPr sz="1350">
              <a:latin typeface="Nunito Medium"/>
              <a:ea typeface="Nunito Medium"/>
              <a:cs typeface="Nunito Medium"/>
              <a:sym typeface="Nunito Medium"/>
            </a:endParaRPr>
          </a:p>
          <a:p>
            <a:pPr indent="-314325" lvl="0" marL="457200" rtl="0" algn="l">
              <a:spcBef>
                <a:spcPts val="0"/>
              </a:spcBef>
              <a:spcAft>
                <a:spcPts val="0"/>
              </a:spcAft>
              <a:buSzPts val="1350"/>
              <a:buFont typeface="Nunito Medium"/>
              <a:buChar char="●"/>
            </a:pPr>
            <a:r>
              <a:rPr lang="en-GB" sz="1350">
                <a:latin typeface="Nunito Medium"/>
                <a:ea typeface="Nunito Medium"/>
                <a:cs typeface="Nunito Medium"/>
                <a:sym typeface="Nunito Medium"/>
              </a:rPr>
              <a:t>Most of the missing inventory are in the $5 – $50 range</a:t>
            </a:r>
            <a:endParaRPr sz="1350">
              <a:latin typeface="Nunito Medium"/>
              <a:ea typeface="Nunito Medium"/>
              <a:cs typeface="Nunito Medium"/>
              <a:sym typeface="Nunito Medium"/>
            </a:endParaRPr>
          </a:p>
          <a:p>
            <a:pPr indent="-314325" lvl="0" marL="457200" rtl="0" algn="l">
              <a:spcBef>
                <a:spcPts val="0"/>
              </a:spcBef>
              <a:spcAft>
                <a:spcPts val="0"/>
              </a:spcAft>
              <a:buSzPts val="1350"/>
              <a:buFont typeface="Nunito Medium"/>
              <a:buChar char="●"/>
            </a:pPr>
            <a:r>
              <a:rPr lang="en-GB" sz="1350">
                <a:latin typeface="Nunito Medium"/>
                <a:ea typeface="Nunito Medium"/>
                <a:cs typeface="Nunito Medium"/>
                <a:sym typeface="Nunito Medium"/>
              </a:rPr>
              <a:t>The inventory discrepancy with the Gaming Desks and Gaming Monitors should be taken note of, regarding their cost</a:t>
            </a:r>
            <a:endParaRPr sz="1350">
              <a:latin typeface="Nunito Medium"/>
              <a:ea typeface="Nunito Medium"/>
              <a:cs typeface="Nunito Medium"/>
              <a:sym typeface="Nunito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2"/>
          <p:cNvSpPr txBox="1"/>
          <p:nvPr>
            <p:ph type="title"/>
          </p:nvPr>
        </p:nvSpPr>
        <p:spPr>
          <a:xfrm>
            <a:off x="1354350" y="598575"/>
            <a:ext cx="7030500" cy="685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b="0" lang="en-GB" sz="3040">
                <a:solidFill>
                  <a:srgbClr val="000000"/>
                </a:solidFill>
                <a:latin typeface="Maven Pro Medium"/>
                <a:ea typeface="Maven Pro Medium"/>
                <a:cs typeface="Maven Pro Medium"/>
                <a:sym typeface="Maven Pro Medium"/>
              </a:rPr>
              <a:t>Addressing Missing Inventory</a:t>
            </a:r>
            <a:endParaRPr b="0" sz="3040">
              <a:solidFill>
                <a:srgbClr val="000000"/>
              </a:solidFill>
              <a:latin typeface="Maven Pro Medium"/>
              <a:ea typeface="Maven Pro Medium"/>
              <a:cs typeface="Maven Pro Medium"/>
              <a:sym typeface="Maven Pro Medium"/>
            </a:endParaRPr>
          </a:p>
        </p:txBody>
      </p:sp>
      <p:sp>
        <p:nvSpPr>
          <p:cNvPr id="353" name="Google Shape;353;p22"/>
          <p:cNvSpPr txBox="1"/>
          <p:nvPr>
            <p:ph idx="1" type="body"/>
          </p:nvPr>
        </p:nvSpPr>
        <p:spPr>
          <a:xfrm>
            <a:off x="929550" y="1284075"/>
            <a:ext cx="7880100" cy="3556800"/>
          </a:xfrm>
          <a:prstGeom prst="rect">
            <a:avLst/>
          </a:prstGeom>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rgbClr val="000000"/>
              </a:buClr>
              <a:buSzPts val="1400"/>
              <a:buFont typeface="Nunito SemiBold"/>
              <a:buChar char="●"/>
            </a:pPr>
            <a:r>
              <a:rPr lang="en-GB" sz="1400">
                <a:solidFill>
                  <a:srgbClr val="000000"/>
                </a:solidFill>
                <a:latin typeface="Nunito SemiBold"/>
                <a:ea typeface="Nunito SemiBold"/>
                <a:cs typeface="Nunito SemiBold"/>
                <a:sym typeface="Nunito SemiBold"/>
              </a:rPr>
              <a:t>The sample data presents with minor data discrepancies, specifically with the hand-in-stock compared to units sales subtracted from total units in the store​</a:t>
            </a:r>
            <a:endParaRPr sz="1400">
              <a:solidFill>
                <a:srgbClr val="000000"/>
              </a:solidFill>
              <a:latin typeface="Nunito SemiBold"/>
              <a:ea typeface="Nunito SemiBold"/>
              <a:cs typeface="Nunito SemiBold"/>
              <a:sym typeface="Nunito SemiBold"/>
            </a:endParaRPr>
          </a:p>
          <a:p>
            <a:pPr indent="0" lvl="0" marL="0" rtl="0" algn="l">
              <a:lnSpc>
                <a:spcPct val="100000"/>
              </a:lnSpc>
              <a:spcBef>
                <a:spcPts val="0"/>
              </a:spcBef>
              <a:spcAft>
                <a:spcPts val="0"/>
              </a:spcAft>
              <a:buNone/>
            </a:pPr>
            <a:r>
              <a:t/>
            </a:r>
            <a:endParaRPr sz="1400">
              <a:solidFill>
                <a:srgbClr val="000000"/>
              </a:solidFill>
              <a:latin typeface="Nunito SemiBold"/>
              <a:ea typeface="Nunito SemiBold"/>
              <a:cs typeface="Nunito SemiBold"/>
              <a:sym typeface="Nunito SemiBold"/>
            </a:endParaRPr>
          </a:p>
          <a:p>
            <a:pPr indent="-317500" lvl="0" marL="457200" rtl="0" algn="l">
              <a:lnSpc>
                <a:spcPct val="100000"/>
              </a:lnSpc>
              <a:spcBef>
                <a:spcPts val="0"/>
              </a:spcBef>
              <a:spcAft>
                <a:spcPts val="0"/>
              </a:spcAft>
              <a:buClr>
                <a:srgbClr val="000000"/>
              </a:buClr>
              <a:buSzPts val="1400"/>
              <a:buFont typeface="Nunito SemiBold"/>
              <a:buChar char="●"/>
            </a:pPr>
            <a:r>
              <a:rPr lang="en-GB" sz="1400">
                <a:solidFill>
                  <a:srgbClr val="000000"/>
                </a:solidFill>
                <a:latin typeface="Nunito SemiBold"/>
                <a:ea typeface="Nunito SemiBold"/>
                <a:cs typeface="Nunito SemiBold"/>
                <a:sym typeface="Nunito SemiBold"/>
              </a:rPr>
              <a:t>If this were a real spreadsheet of a small to medium-sized computer store, given revenue calculated, then it is necessary to address whether there are actually missing units or not​</a:t>
            </a:r>
            <a:endParaRPr sz="1400">
              <a:solidFill>
                <a:srgbClr val="000000"/>
              </a:solidFill>
              <a:latin typeface="Nunito SemiBold"/>
              <a:ea typeface="Nunito SemiBold"/>
              <a:cs typeface="Nunito SemiBold"/>
              <a:sym typeface="Nunito SemiBold"/>
            </a:endParaRPr>
          </a:p>
          <a:p>
            <a:pPr indent="0" lvl="0" marL="0" rtl="0" algn="l">
              <a:lnSpc>
                <a:spcPct val="100000"/>
              </a:lnSpc>
              <a:spcBef>
                <a:spcPts val="0"/>
              </a:spcBef>
              <a:spcAft>
                <a:spcPts val="0"/>
              </a:spcAft>
              <a:buNone/>
            </a:pPr>
            <a:r>
              <a:t/>
            </a:r>
            <a:endParaRPr sz="1400">
              <a:solidFill>
                <a:srgbClr val="000000"/>
              </a:solidFill>
              <a:latin typeface="Nunito SemiBold"/>
              <a:ea typeface="Nunito SemiBold"/>
              <a:cs typeface="Nunito SemiBold"/>
              <a:sym typeface="Nunito SemiBold"/>
            </a:endParaRPr>
          </a:p>
          <a:p>
            <a:pPr indent="-317500" lvl="0" marL="457200" rtl="0" algn="l">
              <a:lnSpc>
                <a:spcPct val="100000"/>
              </a:lnSpc>
              <a:spcBef>
                <a:spcPts val="0"/>
              </a:spcBef>
              <a:spcAft>
                <a:spcPts val="0"/>
              </a:spcAft>
              <a:buClr>
                <a:srgbClr val="000000"/>
              </a:buClr>
              <a:buSzPts val="1400"/>
              <a:buFont typeface="Nunito SemiBold"/>
              <a:buChar char="●"/>
            </a:pPr>
            <a:r>
              <a:rPr lang="en-GB" sz="1400">
                <a:solidFill>
                  <a:srgbClr val="000000"/>
                </a:solidFill>
                <a:latin typeface="Nunito SemiBold"/>
                <a:ea typeface="Nunito SemiBold"/>
                <a:cs typeface="Nunito SemiBold"/>
                <a:sym typeface="Nunito SemiBold"/>
              </a:rPr>
              <a:t>If the data inputted was incorrect, then it should be updated immediately in order to avoid further discrepancies with quarterly and yearly revenue insights​</a:t>
            </a:r>
            <a:endParaRPr sz="1400">
              <a:solidFill>
                <a:srgbClr val="000000"/>
              </a:solidFill>
              <a:latin typeface="Nunito SemiBold"/>
              <a:ea typeface="Nunito SemiBold"/>
              <a:cs typeface="Nunito SemiBold"/>
              <a:sym typeface="Nunito SemiBold"/>
            </a:endParaRPr>
          </a:p>
          <a:p>
            <a:pPr indent="0" lvl="0" marL="0" rtl="0" algn="l">
              <a:lnSpc>
                <a:spcPct val="100000"/>
              </a:lnSpc>
              <a:spcBef>
                <a:spcPts val="0"/>
              </a:spcBef>
              <a:spcAft>
                <a:spcPts val="0"/>
              </a:spcAft>
              <a:buNone/>
            </a:pPr>
            <a:r>
              <a:t/>
            </a:r>
            <a:endParaRPr sz="1400">
              <a:solidFill>
                <a:srgbClr val="000000"/>
              </a:solidFill>
              <a:latin typeface="Nunito SemiBold"/>
              <a:ea typeface="Nunito SemiBold"/>
              <a:cs typeface="Nunito SemiBold"/>
              <a:sym typeface="Nunito SemiBold"/>
            </a:endParaRPr>
          </a:p>
          <a:p>
            <a:pPr indent="-317500" lvl="0" marL="457200" rtl="0" algn="l">
              <a:lnSpc>
                <a:spcPct val="100000"/>
              </a:lnSpc>
              <a:spcBef>
                <a:spcPts val="0"/>
              </a:spcBef>
              <a:spcAft>
                <a:spcPts val="0"/>
              </a:spcAft>
              <a:buClr>
                <a:srgbClr val="000000"/>
              </a:buClr>
              <a:buSzPts val="1400"/>
              <a:buFont typeface="Nunito SemiBold"/>
              <a:buChar char="●"/>
            </a:pPr>
            <a:r>
              <a:rPr lang="en-GB" sz="1400">
                <a:solidFill>
                  <a:srgbClr val="000000"/>
                </a:solidFill>
                <a:latin typeface="Nunito SemiBold"/>
                <a:ea typeface="Nunito SemiBold"/>
                <a:cs typeface="Nunito SemiBold"/>
                <a:sym typeface="Nunito SemiBold"/>
              </a:rPr>
              <a:t>If correct, then finding the missing inventory and identifying whether theft has occurred is also important​</a:t>
            </a:r>
            <a:endParaRPr sz="1400">
              <a:solidFill>
                <a:srgbClr val="000000"/>
              </a:solidFill>
              <a:latin typeface="Nunito SemiBold"/>
              <a:ea typeface="Nunito SemiBold"/>
              <a:cs typeface="Nunito SemiBold"/>
              <a:sym typeface="Nunito SemiBold"/>
            </a:endParaRPr>
          </a:p>
          <a:p>
            <a:pPr indent="-317500" lvl="1" marL="914400" rtl="0" algn="l">
              <a:lnSpc>
                <a:spcPct val="100000"/>
              </a:lnSpc>
              <a:spcBef>
                <a:spcPts val="0"/>
              </a:spcBef>
              <a:spcAft>
                <a:spcPts val="0"/>
              </a:spcAft>
              <a:buClr>
                <a:srgbClr val="000000"/>
              </a:buClr>
              <a:buSzPts val="1400"/>
              <a:buFont typeface="Nunito SemiBold"/>
              <a:buChar char="○"/>
            </a:pPr>
            <a:r>
              <a:rPr lang="en-GB" sz="1400">
                <a:solidFill>
                  <a:srgbClr val="000000"/>
                </a:solidFill>
                <a:latin typeface="Nunito SemiBold"/>
                <a:ea typeface="Nunito SemiBold"/>
                <a:cs typeface="Nunito SemiBold"/>
                <a:sym typeface="Nunito SemiBold"/>
              </a:rPr>
              <a:t>Security measures should be made accordingly to prevent future losses and theft​</a:t>
            </a:r>
            <a:endParaRPr sz="1400">
              <a:solidFill>
                <a:srgbClr val="000000"/>
              </a:solidFill>
              <a:latin typeface="Nunito SemiBold"/>
              <a:ea typeface="Nunito SemiBold"/>
              <a:cs typeface="Nunito SemiBold"/>
              <a:sym typeface="Nunito SemiBold"/>
            </a:endParaRPr>
          </a:p>
          <a:p>
            <a:pPr indent="-317500" lvl="1" marL="914400" rtl="0" algn="l">
              <a:lnSpc>
                <a:spcPct val="100000"/>
              </a:lnSpc>
              <a:spcBef>
                <a:spcPts val="0"/>
              </a:spcBef>
              <a:spcAft>
                <a:spcPts val="0"/>
              </a:spcAft>
              <a:buClr>
                <a:srgbClr val="000000"/>
              </a:buClr>
              <a:buSzPts val="1400"/>
              <a:buFont typeface="Nunito SemiBold"/>
              <a:buChar char="○"/>
            </a:pPr>
            <a:r>
              <a:rPr lang="en-GB" sz="1400">
                <a:solidFill>
                  <a:srgbClr val="000000"/>
                </a:solidFill>
                <a:latin typeface="Nunito SemiBold"/>
                <a:ea typeface="Nunito SemiBold"/>
                <a:cs typeface="Nunito SemiBold"/>
                <a:sym typeface="Nunito SemiBold"/>
              </a:rPr>
              <a:t>Misplacement of missing inventory should also make clear of proper product handling during initial deliveries and throughout the day, week, or month​</a:t>
            </a:r>
            <a:endParaRPr sz="1400">
              <a:solidFill>
                <a:srgbClr val="000000"/>
              </a:solidFill>
              <a:latin typeface="Nunito SemiBold"/>
              <a:ea typeface="Nunito SemiBold"/>
              <a:cs typeface="Nunito SemiBold"/>
              <a:sym typeface="Nunito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3"/>
          <p:cNvSpPr txBox="1"/>
          <p:nvPr>
            <p:ph type="title"/>
          </p:nvPr>
        </p:nvSpPr>
        <p:spPr>
          <a:xfrm>
            <a:off x="1271850" y="651800"/>
            <a:ext cx="7030500" cy="64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3000">
                <a:solidFill>
                  <a:srgbClr val="000000"/>
                </a:solidFill>
                <a:latin typeface="Maven Pro Medium"/>
                <a:ea typeface="Maven Pro Medium"/>
                <a:cs typeface="Maven Pro Medium"/>
                <a:sym typeface="Maven Pro Medium"/>
              </a:rPr>
              <a:t>Product Sales</a:t>
            </a:r>
            <a:endParaRPr b="0" sz="3000">
              <a:solidFill>
                <a:srgbClr val="000000"/>
              </a:solidFill>
              <a:latin typeface="Maven Pro Medium"/>
              <a:ea typeface="Maven Pro Medium"/>
              <a:cs typeface="Maven Pro Medium"/>
              <a:sym typeface="Maven Pro Medium"/>
            </a:endParaRPr>
          </a:p>
        </p:txBody>
      </p:sp>
      <p:pic>
        <p:nvPicPr>
          <p:cNvPr id="359" name="Google Shape;359;p23" title="Screenshot 2026-09-26 173253.png"/>
          <p:cNvPicPr preferRelativeResize="0"/>
          <p:nvPr/>
        </p:nvPicPr>
        <p:blipFill>
          <a:blip r:embed="rId3">
            <a:alphaModFix/>
          </a:blip>
          <a:stretch>
            <a:fillRect/>
          </a:stretch>
        </p:blipFill>
        <p:spPr>
          <a:xfrm>
            <a:off x="770387" y="1464825"/>
            <a:ext cx="8033425" cy="334025"/>
          </a:xfrm>
          <a:prstGeom prst="rect">
            <a:avLst/>
          </a:prstGeom>
          <a:noFill/>
          <a:ln>
            <a:noFill/>
          </a:ln>
        </p:spPr>
      </p:pic>
      <p:pic>
        <p:nvPicPr>
          <p:cNvPr id="360" name="Google Shape;360;p23" title="Screenshot 2026-09-26 172843.png"/>
          <p:cNvPicPr preferRelativeResize="0"/>
          <p:nvPr/>
        </p:nvPicPr>
        <p:blipFill>
          <a:blip r:embed="rId4">
            <a:alphaModFix/>
          </a:blip>
          <a:stretch>
            <a:fillRect/>
          </a:stretch>
        </p:blipFill>
        <p:spPr>
          <a:xfrm>
            <a:off x="770375" y="1798850"/>
            <a:ext cx="2843801" cy="2314425"/>
          </a:xfrm>
          <a:prstGeom prst="rect">
            <a:avLst/>
          </a:prstGeom>
          <a:noFill/>
          <a:ln>
            <a:noFill/>
          </a:ln>
        </p:spPr>
      </p:pic>
      <p:pic>
        <p:nvPicPr>
          <p:cNvPr id="361" name="Google Shape;361;p23" title="Screenshot 2026-09-26 172855.png"/>
          <p:cNvPicPr preferRelativeResize="0"/>
          <p:nvPr/>
        </p:nvPicPr>
        <p:blipFill>
          <a:blip r:embed="rId5">
            <a:alphaModFix/>
          </a:blip>
          <a:stretch>
            <a:fillRect/>
          </a:stretch>
        </p:blipFill>
        <p:spPr>
          <a:xfrm>
            <a:off x="3614176" y="1798850"/>
            <a:ext cx="3451347" cy="2314425"/>
          </a:xfrm>
          <a:prstGeom prst="rect">
            <a:avLst/>
          </a:prstGeom>
          <a:noFill/>
          <a:ln>
            <a:noFill/>
          </a:ln>
        </p:spPr>
      </p:pic>
      <p:sp>
        <p:nvSpPr>
          <p:cNvPr id="362" name="Google Shape;362;p23"/>
          <p:cNvSpPr txBox="1"/>
          <p:nvPr/>
        </p:nvSpPr>
        <p:spPr>
          <a:xfrm>
            <a:off x="865650" y="4212425"/>
            <a:ext cx="7518300" cy="7986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SemiBold"/>
              <a:buChar char="●"/>
            </a:pPr>
            <a:r>
              <a:rPr lang="en-GB">
                <a:latin typeface="Nunito SemiBold"/>
                <a:ea typeface="Nunito SemiBold"/>
                <a:cs typeface="Nunito SemiBold"/>
                <a:sym typeface="Nunito SemiBold"/>
              </a:rPr>
              <a:t>Product sales, visually displayed in a pivot table and pie chart</a:t>
            </a:r>
            <a:endParaRPr>
              <a:latin typeface="Nunito SemiBold"/>
              <a:ea typeface="Nunito SemiBold"/>
              <a:cs typeface="Nunito SemiBold"/>
              <a:sym typeface="Nunito SemiBold"/>
            </a:endParaRPr>
          </a:p>
          <a:p>
            <a:pPr indent="-317500" lvl="0" marL="457200" rtl="0" algn="l">
              <a:spcBef>
                <a:spcPts val="0"/>
              </a:spcBef>
              <a:spcAft>
                <a:spcPts val="0"/>
              </a:spcAft>
              <a:buSzPts val="1400"/>
              <a:buFont typeface="Nunito SemiBold"/>
              <a:buChar char="●"/>
            </a:pPr>
            <a:r>
              <a:rPr lang="en-GB">
                <a:latin typeface="Nunito SemiBold"/>
                <a:ea typeface="Nunito SemiBold"/>
                <a:cs typeface="Nunito SemiBold"/>
                <a:sym typeface="Nunito SemiBold"/>
              </a:rPr>
              <a:t>Smartphones and laptops make up the majority the revenue, which make sense since they are very common and useful for everyday life</a:t>
            </a:r>
            <a:endParaRPr>
              <a:latin typeface="Nunito SemiBold"/>
              <a:ea typeface="Nunito SemiBold"/>
              <a:cs typeface="Nunito SemiBold"/>
              <a:sym typeface="Nunito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4"/>
          <p:cNvSpPr txBox="1"/>
          <p:nvPr>
            <p:ph type="title"/>
          </p:nvPr>
        </p:nvSpPr>
        <p:spPr>
          <a:xfrm>
            <a:off x="1271850" y="651800"/>
            <a:ext cx="7030500" cy="64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3000">
                <a:solidFill>
                  <a:srgbClr val="000000"/>
                </a:solidFill>
                <a:latin typeface="Maven Pro Medium"/>
                <a:ea typeface="Maven Pro Medium"/>
                <a:cs typeface="Maven Pro Medium"/>
                <a:sym typeface="Maven Pro Medium"/>
              </a:rPr>
              <a:t>Product Sales</a:t>
            </a:r>
            <a:endParaRPr b="0" sz="3000">
              <a:solidFill>
                <a:srgbClr val="000000"/>
              </a:solidFill>
              <a:latin typeface="Maven Pro Medium"/>
              <a:ea typeface="Maven Pro Medium"/>
              <a:cs typeface="Maven Pro Medium"/>
              <a:sym typeface="Maven Pro Medium"/>
            </a:endParaRPr>
          </a:p>
        </p:txBody>
      </p:sp>
      <p:pic>
        <p:nvPicPr>
          <p:cNvPr id="368" name="Google Shape;368;p24" title="Screenshot 2026-09-26 172909.png"/>
          <p:cNvPicPr preferRelativeResize="0"/>
          <p:nvPr/>
        </p:nvPicPr>
        <p:blipFill>
          <a:blip r:embed="rId3">
            <a:alphaModFix/>
          </a:blip>
          <a:stretch>
            <a:fillRect/>
          </a:stretch>
        </p:blipFill>
        <p:spPr>
          <a:xfrm>
            <a:off x="770375" y="1402238"/>
            <a:ext cx="3149925" cy="2339025"/>
          </a:xfrm>
          <a:prstGeom prst="rect">
            <a:avLst/>
          </a:prstGeom>
          <a:noFill/>
          <a:ln>
            <a:noFill/>
          </a:ln>
        </p:spPr>
      </p:pic>
      <p:pic>
        <p:nvPicPr>
          <p:cNvPr id="369" name="Google Shape;369;p24" title="Screenshot 2026-09-26 173012.png"/>
          <p:cNvPicPr preferRelativeResize="0"/>
          <p:nvPr/>
        </p:nvPicPr>
        <p:blipFill>
          <a:blip r:embed="rId4">
            <a:alphaModFix/>
          </a:blip>
          <a:stretch>
            <a:fillRect/>
          </a:stretch>
        </p:blipFill>
        <p:spPr>
          <a:xfrm>
            <a:off x="3920300" y="1294400"/>
            <a:ext cx="3711950" cy="2339025"/>
          </a:xfrm>
          <a:prstGeom prst="rect">
            <a:avLst/>
          </a:prstGeom>
          <a:noFill/>
          <a:ln>
            <a:noFill/>
          </a:ln>
        </p:spPr>
      </p:pic>
      <p:sp>
        <p:nvSpPr>
          <p:cNvPr id="370" name="Google Shape;370;p24"/>
          <p:cNvSpPr txBox="1"/>
          <p:nvPr/>
        </p:nvSpPr>
        <p:spPr>
          <a:xfrm>
            <a:off x="620725" y="3849125"/>
            <a:ext cx="7475700" cy="10980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SemiBold"/>
              <a:buChar char="●"/>
            </a:pPr>
            <a:r>
              <a:rPr lang="en-GB">
                <a:latin typeface="Nunito SemiBold"/>
                <a:ea typeface="Nunito SemiBold"/>
                <a:cs typeface="Nunito SemiBold"/>
                <a:sym typeface="Nunito SemiBold"/>
              </a:rPr>
              <a:t>The number of units sold compared to revenue is slightly different here</a:t>
            </a:r>
            <a:endParaRPr>
              <a:latin typeface="Nunito SemiBold"/>
              <a:ea typeface="Nunito SemiBold"/>
              <a:cs typeface="Nunito SemiBold"/>
              <a:sym typeface="Nunito SemiBold"/>
            </a:endParaRPr>
          </a:p>
          <a:p>
            <a:pPr indent="-317500" lvl="0" marL="457200" rtl="0" algn="l">
              <a:spcBef>
                <a:spcPts val="0"/>
              </a:spcBef>
              <a:spcAft>
                <a:spcPts val="0"/>
              </a:spcAft>
              <a:buSzPts val="1400"/>
              <a:buFont typeface="Nunito SemiBold"/>
              <a:buChar char="●"/>
            </a:pPr>
            <a:r>
              <a:rPr lang="en-GB">
                <a:latin typeface="Nunito SemiBold"/>
                <a:ea typeface="Nunito SemiBold"/>
                <a:cs typeface="Nunito SemiBold"/>
                <a:sym typeface="Nunito SemiBold"/>
              </a:rPr>
              <a:t>Graphics cards are now at the bottom when previously they’re 4th, and keyboards are in the chart now when they hadn’t made enough revenue to hit quadruple digits</a:t>
            </a:r>
            <a:endParaRPr>
              <a:latin typeface="Nunito SemiBold"/>
              <a:ea typeface="Nunito SemiBold"/>
              <a:cs typeface="Nunito SemiBold"/>
              <a:sym typeface="Nunito SemiBold"/>
            </a:endParaRPr>
          </a:p>
          <a:p>
            <a:pPr indent="-317500" lvl="1" marL="914400" rtl="0" algn="l">
              <a:spcBef>
                <a:spcPts val="0"/>
              </a:spcBef>
              <a:spcAft>
                <a:spcPts val="0"/>
              </a:spcAft>
              <a:buSzPts val="1400"/>
              <a:buFont typeface="Nunito SemiBold"/>
              <a:buChar char="○"/>
            </a:pPr>
            <a:r>
              <a:rPr lang="en-GB">
                <a:latin typeface="Nunito SemiBold"/>
                <a:ea typeface="Nunito SemiBold"/>
                <a:cs typeface="Nunito SemiBold"/>
                <a:sym typeface="Nunito SemiBold"/>
              </a:rPr>
              <a:t>While keyboards are popular, </a:t>
            </a:r>
            <a:r>
              <a:rPr lang="en-GB">
                <a:latin typeface="Nunito SemiBold"/>
                <a:ea typeface="Nunito SemiBold"/>
                <a:cs typeface="Nunito SemiBold"/>
                <a:sym typeface="Nunito SemiBold"/>
              </a:rPr>
              <a:t>the individual unit price isn’t very high</a:t>
            </a:r>
            <a:endParaRPr>
              <a:latin typeface="Nunito SemiBold"/>
              <a:ea typeface="Nunito SemiBold"/>
              <a:cs typeface="Nunito SemiBold"/>
              <a:sym typeface="Nunito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txBox="1"/>
          <p:nvPr>
            <p:ph type="title"/>
          </p:nvPr>
        </p:nvSpPr>
        <p:spPr>
          <a:xfrm>
            <a:off x="1271850" y="651800"/>
            <a:ext cx="7030500" cy="64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3000">
                <a:solidFill>
                  <a:srgbClr val="000000"/>
                </a:solidFill>
                <a:latin typeface="Maven Pro Medium"/>
                <a:ea typeface="Maven Pro Medium"/>
                <a:cs typeface="Maven Pro Medium"/>
                <a:sym typeface="Maven Pro Medium"/>
              </a:rPr>
              <a:t>Product Sales</a:t>
            </a:r>
            <a:endParaRPr b="0" sz="3000">
              <a:solidFill>
                <a:srgbClr val="000000"/>
              </a:solidFill>
              <a:latin typeface="Maven Pro Medium"/>
              <a:ea typeface="Maven Pro Medium"/>
              <a:cs typeface="Maven Pro Medium"/>
              <a:sym typeface="Maven Pro Medium"/>
            </a:endParaRPr>
          </a:p>
        </p:txBody>
      </p:sp>
      <p:pic>
        <p:nvPicPr>
          <p:cNvPr id="376" name="Google Shape;376;p25" title="Screenshot 2026-09-26 173026.png"/>
          <p:cNvPicPr preferRelativeResize="0"/>
          <p:nvPr/>
        </p:nvPicPr>
        <p:blipFill>
          <a:blip r:embed="rId3">
            <a:alphaModFix/>
          </a:blip>
          <a:stretch>
            <a:fillRect/>
          </a:stretch>
        </p:blipFill>
        <p:spPr>
          <a:xfrm>
            <a:off x="770375" y="1798850"/>
            <a:ext cx="3364550" cy="2344050"/>
          </a:xfrm>
          <a:prstGeom prst="rect">
            <a:avLst/>
          </a:prstGeom>
          <a:noFill/>
          <a:ln>
            <a:noFill/>
          </a:ln>
        </p:spPr>
      </p:pic>
      <p:pic>
        <p:nvPicPr>
          <p:cNvPr id="377" name="Google Shape;377;p25" title="Screenshot 2026-09-26 173043.png"/>
          <p:cNvPicPr preferRelativeResize="0"/>
          <p:nvPr/>
        </p:nvPicPr>
        <p:blipFill>
          <a:blip r:embed="rId4">
            <a:alphaModFix/>
          </a:blip>
          <a:stretch>
            <a:fillRect/>
          </a:stretch>
        </p:blipFill>
        <p:spPr>
          <a:xfrm>
            <a:off x="4134925" y="1798850"/>
            <a:ext cx="3256081" cy="23440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6"/>
          <p:cNvSpPr txBox="1"/>
          <p:nvPr>
            <p:ph type="title"/>
          </p:nvPr>
        </p:nvSpPr>
        <p:spPr>
          <a:xfrm>
            <a:off x="1271850" y="651800"/>
            <a:ext cx="7030500" cy="64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3000">
                <a:solidFill>
                  <a:srgbClr val="000000"/>
                </a:solidFill>
                <a:latin typeface="Maven Pro Medium"/>
                <a:ea typeface="Maven Pro Medium"/>
                <a:cs typeface="Maven Pro Medium"/>
                <a:sym typeface="Maven Pro Medium"/>
              </a:rPr>
              <a:t>Product Sales</a:t>
            </a:r>
            <a:endParaRPr b="0" sz="3000">
              <a:solidFill>
                <a:srgbClr val="000000"/>
              </a:solidFill>
              <a:latin typeface="Maven Pro Medium"/>
              <a:ea typeface="Maven Pro Medium"/>
              <a:cs typeface="Maven Pro Medium"/>
              <a:sym typeface="Maven Pro Medium"/>
            </a:endParaRPr>
          </a:p>
        </p:txBody>
      </p:sp>
      <p:pic>
        <p:nvPicPr>
          <p:cNvPr id="383" name="Google Shape;383;p26" title="Screenshot 2026-09-26 173052.png"/>
          <p:cNvPicPr preferRelativeResize="0"/>
          <p:nvPr/>
        </p:nvPicPr>
        <p:blipFill>
          <a:blip r:embed="rId3">
            <a:alphaModFix/>
          </a:blip>
          <a:stretch>
            <a:fillRect/>
          </a:stretch>
        </p:blipFill>
        <p:spPr>
          <a:xfrm>
            <a:off x="770375" y="1798850"/>
            <a:ext cx="3250826" cy="2253825"/>
          </a:xfrm>
          <a:prstGeom prst="rect">
            <a:avLst/>
          </a:prstGeom>
          <a:noFill/>
          <a:ln>
            <a:noFill/>
          </a:ln>
        </p:spPr>
      </p:pic>
      <p:pic>
        <p:nvPicPr>
          <p:cNvPr id="384" name="Google Shape;384;p26" title="Screenshot 2026-09-26 173104.png"/>
          <p:cNvPicPr preferRelativeResize="0"/>
          <p:nvPr/>
        </p:nvPicPr>
        <p:blipFill>
          <a:blip r:embed="rId4">
            <a:alphaModFix/>
          </a:blip>
          <a:stretch>
            <a:fillRect/>
          </a:stretch>
        </p:blipFill>
        <p:spPr>
          <a:xfrm>
            <a:off x="4021200" y="1798850"/>
            <a:ext cx="3332755" cy="2253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7"/>
          <p:cNvSpPr txBox="1"/>
          <p:nvPr>
            <p:ph type="title"/>
          </p:nvPr>
        </p:nvSpPr>
        <p:spPr>
          <a:xfrm>
            <a:off x="1303800" y="598575"/>
            <a:ext cx="42156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z="3040">
                <a:solidFill>
                  <a:srgbClr val="000000"/>
                </a:solidFill>
                <a:latin typeface="Maven Pro Medium"/>
                <a:ea typeface="Maven Pro Medium"/>
                <a:cs typeface="Maven Pro Medium"/>
                <a:sym typeface="Maven Pro Medium"/>
              </a:rPr>
              <a:t>Basic Break-Even and </a:t>
            </a:r>
            <a:endParaRPr b="0" sz="3040">
              <a:solidFill>
                <a:srgbClr val="000000"/>
              </a:solidFill>
              <a:latin typeface="Maven Pro Medium"/>
              <a:ea typeface="Maven Pro Medium"/>
              <a:cs typeface="Maven Pro Medium"/>
              <a:sym typeface="Maven Pro Medium"/>
            </a:endParaRPr>
          </a:p>
          <a:p>
            <a:pPr indent="0" lvl="0" marL="0" rtl="0" algn="l">
              <a:spcBef>
                <a:spcPts val="0"/>
              </a:spcBef>
              <a:spcAft>
                <a:spcPts val="0"/>
              </a:spcAft>
              <a:buSzPts val="990"/>
              <a:buNone/>
            </a:pPr>
            <a:r>
              <a:rPr b="0" lang="en-GB" sz="3040">
                <a:solidFill>
                  <a:srgbClr val="000000"/>
                </a:solidFill>
                <a:latin typeface="Maven Pro Medium"/>
                <a:ea typeface="Maven Pro Medium"/>
                <a:cs typeface="Maven Pro Medium"/>
                <a:sym typeface="Maven Pro Medium"/>
              </a:rPr>
              <a:t>Profit Calculations</a:t>
            </a:r>
            <a:endParaRPr b="0" sz="3040">
              <a:solidFill>
                <a:srgbClr val="000000"/>
              </a:solidFill>
              <a:latin typeface="Maven Pro Medium"/>
              <a:ea typeface="Maven Pro Medium"/>
              <a:cs typeface="Maven Pro Medium"/>
              <a:sym typeface="Maven Pro Medium"/>
            </a:endParaRPr>
          </a:p>
        </p:txBody>
      </p:sp>
      <p:pic>
        <p:nvPicPr>
          <p:cNvPr id="390" name="Google Shape;390;p27" title="Screenshot 2026-09-26 173926.png"/>
          <p:cNvPicPr preferRelativeResize="0"/>
          <p:nvPr/>
        </p:nvPicPr>
        <p:blipFill>
          <a:blip r:embed="rId3">
            <a:alphaModFix/>
          </a:blip>
          <a:stretch>
            <a:fillRect/>
          </a:stretch>
        </p:blipFill>
        <p:spPr>
          <a:xfrm>
            <a:off x="5076125" y="1895313"/>
            <a:ext cx="1811075" cy="676425"/>
          </a:xfrm>
          <a:prstGeom prst="rect">
            <a:avLst/>
          </a:prstGeom>
          <a:noFill/>
          <a:ln cap="flat" cmpd="sng" w="9525">
            <a:solidFill>
              <a:schemeClr val="dk2"/>
            </a:solidFill>
            <a:prstDash val="solid"/>
            <a:round/>
            <a:headEnd len="sm" w="sm" type="none"/>
            <a:tailEnd len="sm" w="sm" type="none"/>
          </a:ln>
        </p:spPr>
      </p:pic>
      <p:pic>
        <p:nvPicPr>
          <p:cNvPr id="391" name="Google Shape;391;p27" title="Screenshot 2026-10-05 101135.png"/>
          <p:cNvPicPr preferRelativeResize="0"/>
          <p:nvPr/>
        </p:nvPicPr>
        <p:blipFill>
          <a:blip r:embed="rId4">
            <a:alphaModFix/>
          </a:blip>
          <a:stretch>
            <a:fillRect/>
          </a:stretch>
        </p:blipFill>
        <p:spPr>
          <a:xfrm>
            <a:off x="6967572" y="179475"/>
            <a:ext cx="1920475" cy="2392275"/>
          </a:xfrm>
          <a:prstGeom prst="rect">
            <a:avLst/>
          </a:prstGeom>
          <a:noFill/>
          <a:ln cap="flat" cmpd="sng" w="9525">
            <a:solidFill>
              <a:schemeClr val="dk2"/>
            </a:solidFill>
            <a:prstDash val="solid"/>
            <a:round/>
            <a:headEnd len="sm" w="sm" type="none"/>
            <a:tailEnd len="sm" w="sm" type="none"/>
          </a:ln>
        </p:spPr>
      </p:pic>
      <p:pic>
        <p:nvPicPr>
          <p:cNvPr id="392" name="Google Shape;392;p27" title="Screenshot 2026-10-05 101058.png"/>
          <p:cNvPicPr preferRelativeResize="0"/>
          <p:nvPr/>
        </p:nvPicPr>
        <p:blipFill rotWithShape="1">
          <a:blip r:embed="rId5">
            <a:alphaModFix/>
          </a:blip>
          <a:srcRect b="0" l="0" r="14734" t="0"/>
          <a:stretch/>
        </p:blipFill>
        <p:spPr>
          <a:xfrm>
            <a:off x="374275" y="3078825"/>
            <a:ext cx="8395475" cy="1081050"/>
          </a:xfrm>
          <a:prstGeom prst="rect">
            <a:avLst/>
          </a:prstGeom>
          <a:noFill/>
          <a:ln cap="flat" cmpd="sng" w="9525">
            <a:solidFill>
              <a:schemeClr val="dk2"/>
            </a:solidFill>
            <a:prstDash val="solid"/>
            <a:round/>
            <a:headEnd len="sm" w="sm" type="none"/>
            <a:tailEnd len="sm" w="sm" type="none"/>
          </a:ln>
        </p:spPr>
      </p:pic>
      <p:pic>
        <p:nvPicPr>
          <p:cNvPr id="393" name="Google Shape;393;p27" title="Screenshot 2026-10-05 101207.png"/>
          <p:cNvPicPr preferRelativeResize="0"/>
          <p:nvPr/>
        </p:nvPicPr>
        <p:blipFill>
          <a:blip r:embed="rId6">
            <a:alphaModFix/>
          </a:blip>
          <a:stretch>
            <a:fillRect/>
          </a:stretch>
        </p:blipFill>
        <p:spPr>
          <a:xfrm>
            <a:off x="374263" y="4159874"/>
            <a:ext cx="8395477" cy="810950"/>
          </a:xfrm>
          <a:prstGeom prst="rect">
            <a:avLst/>
          </a:prstGeom>
          <a:noFill/>
          <a:ln cap="flat" cmpd="sng" w="9525">
            <a:solidFill>
              <a:schemeClr val="dk2"/>
            </a:solidFill>
            <a:prstDash val="solid"/>
            <a:round/>
            <a:headEnd len="sm" w="sm" type="none"/>
            <a:tailEnd len="sm" w="sm" type="none"/>
          </a:ln>
        </p:spPr>
      </p:pic>
      <p:pic>
        <p:nvPicPr>
          <p:cNvPr id="394" name="Google Shape;394;p27" title="Screenshot 2026-10-05 101058.png"/>
          <p:cNvPicPr preferRelativeResize="0"/>
          <p:nvPr/>
        </p:nvPicPr>
        <p:blipFill rotWithShape="1">
          <a:blip r:embed="rId5">
            <a:alphaModFix/>
          </a:blip>
          <a:srcRect b="0" l="88521" r="0" t="0"/>
          <a:stretch/>
        </p:blipFill>
        <p:spPr>
          <a:xfrm>
            <a:off x="5519404" y="179475"/>
            <a:ext cx="1367798" cy="14184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28" title="Screenshot 2026-09-26 174716.png"/>
          <p:cNvPicPr preferRelativeResize="0"/>
          <p:nvPr/>
        </p:nvPicPr>
        <p:blipFill>
          <a:blip r:embed="rId3">
            <a:alphaModFix/>
          </a:blip>
          <a:stretch>
            <a:fillRect/>
          </a:stretch>
        </p:blipFill>
        <p:spPr>
          <a:xfrm>
            <a:off x="6054802" y="1597863"/>
            <a:ext cx="2714950" cy="1773775"/>
          </a:xfrm>
          <a:prstGeom prst="rect">
            <a:avLst/>
          </a:prstGeom>
          <a:noFill/>
          <a:ln cap="flat" cmpd="sng" w="9525">
            <a:solidFill>
              <a:schemeClr val="dk2"/>
            </a:solidFill>
            <a:prstDash val="solid"/>
            <a:round/>
            <a:headEnd len="sm" w="sm" type="none"/>
            <a:tailEnd len="sm" w="sm" type="none"/>
          </a:ln>
        </p:spPr>
      </p:pic>
      <p:sp>
        <p:nvSpPr>
          <p:cNvPr id="400" name="Google Shape;400;p28"/>
          <p:cNvSpPr txBox="1"/>
          <p:nvPr>
            <p:ph type="title"/>
          </p:nvPr>
        </p:nvSpPr>
        <p:spPr>
          <a:xfrm>
            <a:off x="1303800" y="545325"/>
            <a:ext cx="43434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b="0" lang="en-GB" sz="3040">
                <a:solidFill>
                  <a:srgbClr val="000000"/>
                </a:solidFill>
                <a:latin typeface="Maven Pro Medium"/>
                <a:ea typeface="Maven Pro Medium"/>
                <a:cs typeface="Maven Pro Medium"/>
                <a:sym typeface="Maven Pro Medium"/>
              </a:rPr>
              <a:t>Basic Break-Even and </a:t>
            </a:r>
            <a:endParaRPr b="0" sz="3040">
              <a:solidFill>
                <a:srgbClr val="000000"/>
              </a:solidFill>
              <a:latin typeface="Maven Pro Medium"/>
              <a:ea typeface="Maven Pro Medium"/>
              <a:cs typeface="Maven Pro Medium"/>
              <a:sym typeface="Maven Pro Medium"/>
            </a:endParaRPr>
          </a:p>
          <a:p>
            <a:pPr indent="0" lvl="0" marL="0" rtl="0" algn="l">
              <a:spcBef>
                <a:spcPts val="0"/>
              </a:spcBef>
              <a:spcAft>
                <a:spcPts val="0"/>
              </a:spcAft>
              <a:buSzPts val="990"/>
              <a:buNone/>
            </a:pPr>
            <a:r>
              <a:rPr b="0" lang="en-GB" sz="3040">
                <a:solidFill>
                  <a:srgbClr val="000000"/>
                </a:solidFill>
                <a:latin typeface="Maven Pro Medium"/>
                <a:ea typeface="Maven Pro Medium"/>
                <a:cs typeface="Maven Pro Medium"/>
                <a:sym typeface="Maven Pro Medium"/>
              </a:rPr>
              <a:t>Profit Calculations</a:t>
            </a:r>
            <a:endParaRPr b="0" sz="3040">
              <a:solidFill>
                <a:srgbClr val="000000"/>
              </a:solidFill>
              <a:latin typeface="Maven Pro Medium"/>
              <a:ea typeface="Maven Pro Medium"/>
              <a:cs typeface="Maven Pro Medium"/>
              <a:sym typeface="Maven Pro Medium"/>
            </a:endParaRPr>
          </a:p>
        </p:txBody>
      </p:sp>
      <p:pic>
        <p:nvPicPr>
          <p:cNvPr id="401" name="Google Shape;401;p28" title="Screenshot 2026-10-05 101207.png"/>
          <p:cNvPicPr preferRelativeResize="0"/>
          <p:nvPr/>
        </p:nvPicPr>
        <p:blipFill>
          <a:blip r:embed="rId4">
            <a:alphaModFix/>
          </a:blip>
          <a:stretch>
            <a:fillRect/>
          </a:stretch>
        </p:blipFill>
        <p:spPr>
          <a:xfrm>
            <a:off x="374263" y="4064050"/>
            <a:ext cx="8395477" cy="810950"/>
          </a:xfrm>
          <a:prstGeom prst="rect">
            <a:avLst/>
          </a:prstGeom>
          <a:noFill/>
          <a:ln cap="flat" cmpd="sng" w="9525">
            <a:solidFill>
              <a:schemeClr val="dk2"/>
            </a:solidFill>
            <a:prstDash val="solid"/>
            <a:round/>
            <a:headEnd len="sm" w="sm" type="none"/>
            <a:tailEnd len="sm" w="sm" type="none"/>
          </a:ln>
        </p:spPr>
      </p:pic>
      <p:pic>
        <p:nvPicPr>
          <p:cNvPr id="402" name="Google Shape;402;p28" title="Screenshot 2026-10-05 101234.png"/>
          <p:cNvPicPr preferRelativeResize="0"/>
          <p:nvPr/>
        </p:nvPicPr>
        <p:blipFill>
          <a:blip r:embed="rId5">
            <a:alphaModFix/>
          </a:blip>
          <a:stretch>
            <a:fillRect/>
          </a:stretch>
        </p:blipFill>
        <p:spPr>
          <a:xfrm>
            <a:off x="0" y="1597875"/>
            <a:ext cx="2426275" cy="857450"/>
          </a:xfrm>
          <a:prstGeom prst="rect">
            <a:avLst/>
          </a:prstGeom>
          <a:noFill/>
          <a:ln cap="flat" cmpd="sng" w="9525">
            <a:solidFill>
              <a:schemeClr val="dk2"/>
            </a:solidFill>
            <a:prstDash val="solid"/>
            <a:round/>
            <a:headEnd len="sm" w="sm" type="none"/>
            <a:tailEnd len="sm" w="sm" type="none"/>
          </a:ln>
        </p:spPr>
      </p:pic>
      <p:pic>
        <p:nvPicPr>
          <p:cNvPr id="403" name="Google Shape;403;p28" title="Screenshot 2026-10-05 101333.png"/>
          <p:cNvPicPr preferRelativeResize="0"/>
          <p:nvPr/>
        </p:nvPicPr>
        <p:blipFill>
          <a:blip r:embed="rId6">
            <a:alphaModFix/>
          </a:blip>
          <a:stretch>
            <a:fillRect/>
          </a:stretch>
        </p:blipFill>
        <p:spPr>
          <a:xfrm>
            <a:off x="2607300" y="1597863"/>
            <a:ext cx="2133114" cy="857450"/>
          </a:xfrm>
          <a:prstGeom prst="rect">
            <a:avLst/>
          </a:prstGeom>
          <a:noFill/>
          <a:ln cap="flat" cmpd="sng" w="9525">
            <a:solidFill>
              <a:schemeClr val="dk2"/>
            </a:solidFill>
            <a:prstDash val="solid"/>
            <a:round/>
            <a:headEnd len="sm" w="sm" type="none"/>
            <a:tailEnd len="sm" w="sm" type="none"/>
          </a:ln>
        </p:spPr>
      </p:pic>
      <p:pic>
        <p:nvPicPr>
          <p:cNvPr id="404" name="Google Shape;404;p28" title="Screenshot 2026-10-05 101352.png"/>
          <p:cNvPicPr preferRelativeResize="0"/>
          <p:nvPr/>
        </p:nvPicPr>
        <p:blipFill>
          <a:blip r:embed="rId7">
            <a:alphaModFix/>
          </a:blip>
          <a:stretch>
            <a:fillRect/>
          </a:stretch>
        </p:blipFill>
        <p:spPr>
          <a:xfrm>
            <a:off x="0" y="2571750"/>
            <a:ext cx="3440025" cy="8109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9"/>
          <p:cNvSpPr txBox="1"/>
          <p:nvPr>
            <p:ph type="title"/>
          </p:nvPr>
        </p:nvSpPr>
        <p:spPr>
          <a:xfrm>
            <a:off x="1303800" y="524050"/>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990"/>
              <a:buFont typeface="Arial"/>
              <a:buNone/>
            </a:pPr>
            <a:r>
              <a:rPr b="0" lang="en-GB" sz="3036">
                <a:solidFill>
                  <a:srgbClr val="000000"/>
                </a:solidFill>
                <a:latin typeface="Maven Pro Medium"/>
                <a:ea typeface="Maven Pro Medium"/>
                <a:cs typeface="Maven Pro Medium"/>
                <a:sym typeface="Maven Pro Medium"/>
              </a:rPr>
              <a:t>Basic Break-Even and </a:t>
            </a:r>
            <a:endParaRPr b="0" sz="3036">
              <a:solidFill>
                <a:srgbClr val="000000"/>
              </a:solidFill>
              <a:latin typeface="Maven Pro Medium"/>
              <a:ea typeface="Maven Pro Medium"/>
              <a:cs typeface="Maven Pro Medium"/>
              <a:sym typeface="Maven Pro Medium"/>
            </a:endParaRPr>
          </a:p>
          <a:p>
            <a:pPr indent="0" lvl="0" marL="0" rtl="0" algn="l">
              <a:spcBef>
                <a:spcPts val="0"/>
              </a:spcBef>
              <a:spcAft>
                <a:spcPts val="0"/>
              </a:spcAft>
              <a:buSzPts val="990"/>
              <a:buNone/>
            </a:pPr>
            <a:r>
              <a:rPr b="0" lang="en-GB" sz="3036">
                <a:solidFill>
                  <a:srgbClr val="000000"/>
                </a:solidFill>
                <a:latin typeface="Maven Pro Medium"/>
                <a:ea typeface="Maven Pro Medium"/>
                <a:cs typeface="Maven Pro Medium"/>
                <a:sym typeface="Maven Pro Medium"/>
              </a:rPr>
              <a:t>Profit Calculations</a:t>
            </a:r>
            <a:endParaRPr b="0" sz="3136">
              <a:solidFill>
                <a:srgbClr val="000000"/>
              </a:solidFill>
              <a:latin typeface="Maven Pro Medium"/>
              <a:ea typeface="Maven Pro Medium"/>
              <a:cs typeface="Maven Pro Medium"/>
              <a:sym typeface="Maven Pro Medium"/>
            </a:endParaRPr>
          </a:p>
        </p:txBody>
      </p:sp>
      <p:pic>
        <p:nvPicPr>
          <p:cNvPr id="410" name="Google Shape;410;p29" title="Screenshot 2026-09-26 174108.png"/>
          <p:cNvPicPr preferRelativeResize="0"/>
          <p:nvPr/>
        </p:nvPicPr>
        <p:blipFill>
          <a:blip r:embed="rId3">
            <a:alphaModFix/>
          </a:blip>
          <a:stretch>
            <a:fillRect/>
          </a:stretch>
        </p:blipFill>
        <p:spPr>
          <a:xfrm>
            <a:off x="4220375" y="1728725"/>
            <a:ext cx="4711450" cy="2781625"/>
          </a:xfrm>
          <a:prstGeom prst="rect">
            <a:avLst/>
          </a:prstGeom>
          <a:noFill/>
          <a:ln>
            <a:noFill/>
          </a:ln>
        </p:spPr>
      </p:pic>
      <p:pic>
        <p:nvPicPr>
          <p:cNvPr id="411" name="Google Shape;411;p29" title="Screenshot 2026-09-26 174117.png"/>
          <p:cNvPicPr preferRelativeResize="0"/>
          <p:nvPr/>
        </p:nvPicPr>
        <p:blipFill>
          <a:blip r:embed="rId4">
            <a:alphaModFix/>
          </a:blip>
          <a:stretch>
            <a:fillRect/>
          </a:stretch>
        </p:blipFill>
        <p:spPr>
          <a:xfrm>
            <a:off x="2964250" y="1728713"/>
            <a:ext cx="1151400" cy="1338988"/>
          </a:xfrm>
          <a:prstGeom prst="rect">
            <a:avLst/>
          </a:prstGeom>
          <a:noFill/>
          <a:ln>
            <a:noFill/>
          </a:ln>
        </p:spPr>
      </p:pic>
      <p:pic>
        <p:nvPicPr>
          <p:cNvPr id="412" name="Google Shape;412;p29" title="Screenshot 2026-09-26 174126.png"/>
          <p:cNvPicPr preferRelativeResize="0"/>
          <p:nvPr/>
        </p:nvPicPr>
        <p:blipFill>
          <a:blip r:embed="rId5">
            <a:alphaModFix/>
          </a:blip>
          <a:stretch>
            <a:fillRect/>
          </a:stretch>
        </p:blipFill>
        <p:spPr>
          <a:xfrm>
            <a:off x="3342025" y="3166350"/>
            <a:ext cx="773625" cy="1344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3600">
                <a:solidFill>
                  <a:srgbClr val="000000"/>
                </a:solidFill>
                <a:latin typeface="Maven Pro Medium"/>
                <a:ea typeface="Maven Pro Medium"/>
                <a:cs typeface="Maven Pro Medium"/>
                <a:sym typeface="Maven Pro Medium"/>
              </a:rPr>
              <a:t>Unit Sales</a:t>
            </a:r>
            <a:endParaRPr b="0" sz="3600">
              <a:solidFill>
                <a:srgbClr val="000000"/>
              </a:solidFill>
              <a:latin typeface="Maven Pro Medium"/>
              <a:ea typeface="Maven Pro Medium"/>
              <a:cs typeface="Maven Pro Medium"/>
              <a:sym typeface="Maven Pro Medium"/>
            </a:endParaRPr>
          </a:p>
        </p:txBody>
      </p:sp>
      <p:pic>
        <p:nvPicPr>
          <p:cNvPr id="418" name="Google Shape;418;p30" title="Screenshot 2026-09-26 174136.png"/>
          <p:cNvPicPr preferRelativeResize="0"/>
          <p:nvPr/>
        </p:nvPicPr>
        <p:blipFill>
          <a:blip r:embed="rId3">
            <a:alphaModFix/>
          </a:blip>
          <a:stretch>
            <a:fillRect/>
          </a:stretch>
        </p:blipFill>
        <p:spPr>
          <a:xfrm>
            <a:off x="237600" y="1597875"/>
            <a:ext cx="4419600" cy="1675024"/>
          </a:xfrm>
          <a:prstGeom prst="rect">
            <a:avLst/>
          </a:prstGeom>
          <a:noFill/>
          <a:ln>
            <a:noFill/>
          </a:ln>
        </p:spPr>
      </p:pic>
      <p:pic>
        <p:nvPicPr>
          <p:cNvPr id="419" name="Google Shape;419;p30" title="Screenshot 2026-09-26 174150.png"/>
          <p:cNvPicPr preferRelativeResize="0"/>
          <p:nvPr/>
        </p:nvPicPr>
        <p:blipFill>
          <a:blip r:embed="rId4">
            <a:alphaModFix/>
          </a:blip>
          <a:stretch>
            <a:fillRect/>
          </a:stretch>
        </p:blipFill>
        <p:spPr>
          <a:xfrm>
            <a:off x="4809675" y="1597875"/>
            <a:ext cx="3997200" cy="29659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423" name="Shape 423"/>
        <p:cNvGrpSpPr/>
        <p:nvPr/>
      </p:nvGrpSpPr>
      <p:grpSpPr>
        <a:xfrm>
          <a:off x="0" y="0"/>
          <a:ext cx="0" cy="0"/>
          <a:chOff x="0" y="0"/>
          <a:chExt cx="0" cy="0"/>
        </a:xfrm>
      </p:grpSpPr>
      <p:sp>
        <p:nvSpPr>
          <p:cNvPr id="424" name="Google Shape;424;p31"/>
          <p:cNvSpPr txBox="1"/>
          <p:nvPr>
            <p:ph type="title"/>
          </p:nvPr>
        </p:nvSpPr>
        <p:spPr>
          <a:xfrm>
            <a:off x="1303800" y="268475"/>
            <a:ext cx="7030500" cy="99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GB" spc="-33" sz="3000">
                <a:solidFill>
                  <a:srgbClr val="000000"/>
                </a:solidFill>
                <a:latin typeface="Maven Pro Medium"/>
                <a:ea typeface="Maven Pro Medium"/>
                <a:cs typeface="Maven Pro Medium"/>
                <a:sym typeface="Maven Pro Medium"/>
              </a:rPr>
              <a:t>Students Marksheet Sample</a:t>
            </a:r>
            <a:endParaRPr b="0" spc="-33" sz="3000">
              <a:solidFill>
                <a:srgbClr val="000000"/>
              </a:solidFill>
              <a:latin typeface="Maven Pro Medium"/>
              <a:ea typeface="Maven Pro Medium"/>
              <a:cs typeface="Maven Pro Medium"/>
              <a:sym typeface="Maven Pro Medium"/>
            </a:endParaRPr>
          </a:p>
          <a:p>
            <a:pPr indent="0" lvl="0" marL="0" rtl="0" algn="l">
              <a:spcBef>
                <a:spcPts val="0"/>
              </a:spcBef>
              <a:spcAft>
                <a:spcPts val="0"/>
              </a:spcAft>
              <a:buNone/>
            </a:pPr>
            <a:r>
              <a:rPr b="0" lang="en-GB" spc="-33" sz="3000">
                <a:solidFill>
                  <a:srgbClr val="000000"/>
                </a:solidFill>
                <a:latin typeface="Maven Pro Medium"/>
                <a:ea typeface="Maven Pro Medium"/>
                <a:cs typeface="Maven Pro Medium"/>
                <a:sym typeface="Maven Pro Medium"/>
              </a:rPr>
              <a:t>Data Preview</a:t>
            </a:r>
            <a:r>
              <a:rPr b="0" lang="en-GB" sz="3000">
                <a:solidFill>
                  <a:srgbClr val="000000"/>
                </a:solidFill>
                <a:latin typeface="Maven Pro Medium"/>
                <a:ea typeface="Maven Pro Medium"/>
                <a:cs typeface="Maven Pro Medium"/>
                <a:sym typeface="Maven Pro Medium"/>
              </a:rPr>
              <a:t>​ </a:t>
            </a:r>
            <a:endParaRPr b="0" sz="3000">
              <a:solidFill>
                <a:srgbClr val="000000"/>
              </a:solidFill>
              <a:latin typeface="Maven Pro Medium"/>
              <a:ea typeface="Maven Pro Medium"/>
              <a:cs typeface="Maven Pro Medium"/>
              <a:sym typeface="Maven Pro Medium"/>
            </a:endParaRPr>
          </a:p>
        </p:txBody>
      </p:sp>
      <p:pic>
        <p:nvPicPr>
          <p:cNvPr id="425" name="Google Shape;425;p31" title="Screenshot 2026-10-05 103851.png"/>
          <p:cNvPicPr preferRelativeResize="0"/>
          <p:nvPr/>
        </p:nvPicPr>
        <p:blipFill>
          <a:blip r:embed="rId3">
            <a:alphaModFix/>
          </a:blip>
          <a:stretch>
            <a:fillRect/>
          </a:stretch>
        </p:blipFill>
        <p:spPr>
          <a:xfrm>
            <a:off x="109825" y="1643800"/>
            <a:ext cx="4541099" cy="2217199"/>
          </a:xfrm>
          <a:prstGeom prst="rect">
            <a:avLst/>
          </a:prstGeom>
          <a:noFill/>
          <a:ln>
            <a:noFill/>
          </a:ln>
        </p:spPr>
      </p:pic>
      <p:pic>
        <p:nvPicPr>
          <p:cNvPr id="426" name="Google Shape;426;p31" title="Screenshot 2026-10-05 103913.png"/>
          <p:cNvPicPr preferRelativeResize="0"/>
          <p:nvPr/>
        </p:nvPicPr>
        <p:blipFill rotWithShape="1">
          <a:blip r:embed="rId4">
            <a:alphaModFix/>
          </a:blip>
          <a:srcRect b="17102" l="0" r="0" t="0"/>
          <a:stretch/>
        </p:blipFill>
        <p:spPr>
          <a:xfrm>
            <a:off x="4795175" y="963025"/>
            <a:ext cx="4093250" cy="40686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GB" sz="3000">
                <a:solidFill>
                  <a:srgbClr val="000000"/>
                </a:solidFill>
                <a:latin typeface="Maven Pro Medium"/>
                <a:ea typeface="Maven Pro Medium"/>
                <a:cs typeface="Maven Pro Medium"/>
                <a:sym typeface="Maven Pro Medium"/>
              </a:rPr>
              <a:t>Questions to Ask</a:t>
            </a:r>
            <a:endParaRPr b="0" sz="3000">
              <a:solidFill>
                <a:srgbClr val="000000"/>
              </a:solidFill>
              <a:latin typeface="Maven Pro Medium"/>
              <a:ea typeface="Maven Pro Medium"/>
              <a:cs typeface="Maven Pro Medium"/>
              <a:sym typeface="Maven Pro Medium"/>
            </a:endParaRPr>
          </a:p>
        </p:txBody>
      </p:sp>
      <p:sp>
        <p:nvSpPr>
          <p:cNvPr id="432" name="Google Shape;432;p32"/>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4325" lvl="0" marL="457200" rtl="0" algn="l">
              <a:spcBef>
                <a:spcPts val="0"/>
              </a:spcBef>
              <a:spcAft>
                <a:spcPts val="0"/>
              </a:spcAft>
              <a:buSzPts val="1350"/>
              <a:buFont typeface="Nunito SemiBold"/>
              <a:buChar char="●"/>
            </a:pPr>
            <a:r>
              <a:rPr lang="en-GB" sz="1350">
                <a:latin typeface="Nunito SemiBold"/>
                <a:ea typeface="Nunito SemiBold"/>
                <a:cs typeface="Nunito SemiBold"/>
                <a:sym typeface="Nunito SemiBold"/>
              </a:rPr>
              <a:t>Who is the best out of each subject, and who is the best overall?</a:t>
            </a:r>
            <a:endParaRPr sz="1350">
              <a:latin typeface="Nunito SemiBold"/>
              <a:ea typeface="Nunito SemiBold"/>
              <a:cs typeface="Nunito SemiBold"/>
              <a:sym typeface="Nunito SemiBold"/>
            </a:endParaRPr>
          </a:p>
          <a:p>
            <a:pPr indent="-314325" lvl="1" marL="914400" rtl="0" algn="l">
              <a:spcBef>
                <a:spcPts val="0"/>
              </a:spcBef>
              <a:spcAft>
                <a:spcPts val="0"/>
              </a:spcAft>
              <a:buSzPts val="1350"/>
              <a:buFont typeface="Nunito SemiBold"/>
              <a:buChar char="○"/>
            </a:pPr>
            <a:r>
              <a:rPr lang="en-GB" sz="1350">
                <a:latin typeface="Nunito SemiBold"/>
                <a:ea typeface="Nunito SemiBold"/>
                <a:cs typeface="Nunito SemiBold"/>
                <a:sym typeface="Nunito SemiBold"/>
              </a:rPr>
              <a:t>Also, who is the worst, and how would we, as a hypothetical teacher, help them?</a:t>
            </a:r>
            <a:endParaRPr sz="1350">
              <a:latin typeface="Nunito SemiBold"/>
              <a:ea typeface="Nunito SemiBold"/>
              <a:cs typeface="Nunito SemiBold"/>
              <a:sym typeface="Nunito SemiBold"/>
            </a:endParaRPr>
          </a:p>
          <a:p>
            <a:pPr indent="-314325" lvl="2" marL="1371600" rtl="0" algn="l">
              <a:spcBef>
                <a:spcPts val="0"/>
              </a:spcBef>
              <a:spcAft>
                <a:spcPts val="0"/>
              </a:spcAft>
              <a:buSzPts val="1350"/>
              <a:buFont typeface="Nunito SemiBold"/>
              <a:buChar char="■"/>
            </a:pPr>
            <a:r>
              <a:rPr lang="en-GB" sz="1350">
                <a:latin typeface="Nunito SemiBold"/>
                <a:ea typeface="Nunito SemiBold"/>
                <a:cs typeface="Nunito SemiBold"/>
                <a:sym typeface="Nunito SemiBold"/>
              </a:rPr>
              <a:t>Especially if they have previously had lower than average marks, though this would need a larger dataset</a:t>
            </a:r>
            <a:endParaRPr sz="1350">
              <a:latin typeface="Nunito SemiBold"/>
              <a:ea typeface="Nunito SemiBold"/>
              <a:cs typeface="Nunito SemiBold"/>
              <a:sym typeface="Nunito SemiBold"/>
            </a:endParaRPr>
          </a:p>
          <a:p>
            <a:pPr indent="0" lvl="0" marL="0" rtl="0" algn="l">
              <a:spcBef>
                <a:spcPts val="1200"/>
              </a:spcBef>
              <a:spcAft>
                <a:spcPts val="0"/>
              </a:spcAft>
              <a:buNone/>
            </a:pPr>
            <a:r>
              <a:t/>
            </a:r>
            <a:endParaRPr sz="1350">
              <a:latin typeface="Nunito SemiBold"/>
              <a:ea typeface="Nunito SemiBold"/>
              <a:cs typeface="Nunito SemiBold"/>
              <a:sym typeface="Nunito SemiBold"/>
            </a:endParaRPr>
          </a:p>
          <a:p>
            <a:pPr indent="-314325" lvl="0" marL="457200" rtl="0" algn="l">
              <a:spcBef>
                <a:spcPts val="1200"/>
              </a:spcBef>
              <a:spcAft>
                <a:spcPts val="0"/>
              </a:spcAft>
              <a:buSzPts val="1350"/>
              <a:buFont typeface="Nunito SemiBold"/>
              <a:buChar char="●"/>
            </a:pPr>
            <a:r>
              <a:t/>
            </a:r>
            <a:endParaRPr sz="1350">
              <a:latin typeface="Nunito SemiBold"/>
              <a:ea typeface="Nunito SemiBold"/>
              <a:cs typeface="Nunito SemiBold"/>
              <a:sym typeface="Nunito Semi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